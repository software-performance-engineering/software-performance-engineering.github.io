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4"/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5143500" cx="9144000"/>
  <p:notesSz cx="6858000" cy="9144000"/>
  <p:embeddedFontLst>
    <p:embeddedFont>
      <p:font typeface="Roboto Mono"/>
      <p:regular r:id="rId39"/>
      <p:bold r:id="rId40"/>
      <p:italic r:id="rId41"/>
      <p:boldItalic r:id="rId42"/>
    </p:embeddedFont>
    <p:embeddedFont>
      <p:font typeface="Open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.fntdata"/><Relationship Id="rId20" Type="http://schemas.openxmlformats.org/officeDocument/2006/relationships/slide" Target="slides/slide14.xml"/><Relationship Id="rId42" Type="http://schemas.openxmlformats.org/officeDocument/2006/relationships/font" Target="fonts/RobotoMono-boldItalic.fntdata"/><Relationship Id="rId41" Type="http://schemas.openxmlformats.org/officeDocument/2006/relationships/font" Target="fonts/RobotoMono-italic.fntdata"/><Relationship Id="rId22" Type="http://schemas.openxmlformats.org/officeDocument/2006/relationships/slide" Target="slides/slide16.xml"/><Relationship Id="rId44" Type="http://schemas.openxmlformats.org/officeDocument/2006/relationships/font" Target="fonts/OpenSans-bold.fntdata"/><Relationship Id="rId21" Type="http://schemas.openxmlformats.org/officeDocument/2006/relationships/slide" Target="slides/slide15.xml"/><Relationship Id="rId43" Type="http://schemas.openxmlformats.org/officeDocument/2006/relationships/font" Target="fonts/OpenSans-regular.fntdata"/><Relationship Id="rId24" Type="http://schemas.openxmlformats.org/officeDocument/2006/relationships/slide" Target="slides/slide18.xml"/><Relationship Id="rId46" Type="http://schemas.openxmlformats.org/officeDocument/2006/relationships/font" Target="fonts/OpenSans-boldItalic.fntdata"/><Relationship Id="rId23" Type="http://schemas.openxmlformats.org/officeDocument/2006/relationships/slide" Target="slides/slide17.xml"/><Relationship Id="rId45" Type="http://schemas.openxmlformats.org/officeDocument/2006/relationships/font" Target="fonts/OpenSans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RobotoMono-regular.fntdata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9572e622f_0_6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31" name="Google Shape;131;g389572e622f_0_64:notes"/>
          <p:cNvSpPr/>
          <p:nvPr>
            <p:ph idx="2" type="sldImg"/>
          </p:nvPr>
        </p:nvSpPr>
        <p:spPr>
          <a:xfrm>
            <a:off x="379413" y="682625"/>
            <a:ext cx="6096000" cy="343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g389572e622f_0_64:notes"/>
          <p:cNvSpPr txBox="1"/>
          <p:nvPr>
            <p:ph idx="1" type="body"/>
          </p:nvPr>
        </p:nvSpPr>
        <p:spPr>
          <a:xfrm>
            <a:off x="686108" y="4344282"/>
            <a:ext cx="5482800" cy="41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9572e622f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89572e622f_0_1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9572e622f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9572e622f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Today: cover some memory management technique, this may or may not be helpful to your implementation, but feel free to apply them when you see fit in any of the project.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hc38c40b20c9ae8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hc38c40b20c9ae8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hc38c40b20c9ae8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hc38c40b20c9ae8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hc38c40b20c9ae8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hc38c40b20c9ae8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fe6eebb7f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9fe6eebb7f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fe6eebb7f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9fe6eebb7f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When you allocate memory dynamically (</a:t>
            </a:r>
            <a:r>
              <a:rPr lang="zh-C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zh-CN">
                <a:solidFill>
                  <a:schemeClr val="dk1"/>
                </a:solidFill>
              </a:rPr>
              <a:t> or </a:t>
            </a:r>
            <a:r>
              <a:rPr lang="zh-C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malloc</a:t>
            </a:r>
            <a:r>
              <a:rPr lang="zh-CN">
                <a:solidFill>
                  <a:schemeClr val="dk1"/>
                </a:solidFill>
              </a:rPr>
              <a:t>), the system gives you a chunk from the heap.</a:t>
            </a:r>
            <a:br>
              <a:rPr lang="zh-CN">
                <a:solidFill>
                  <a:schemeClr val="dk1"/>
                </a:solidFill>
              </a:rPr>
            </a:br>
            <a:r>
              <a:rPr lang="zh-CN">
                <a:solidFill>
                  <a:schemeClr val="dk1"/>
                </a:solidFill>
              </a:rPr>
              <a:t> When you free it (</a:t>
            </a:r>
            <a:r>
              <a:rPr lang="zh-C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delete</a:t>
            </a:r>
            <a:r>
              <a:rPr lang="zh-CN">
                <a:solidFill>
                  <a:schemeClr val="dk1"/>
                </a:solidFill>
              </a:rPr>
              <a:t> or </a:t>
            </a:r>
            <a:r>
              <a:rPr lang="zh-C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free</a:t>
            </a:r>
            <a:r>
              <a:rPr lang="zh-CN">
                <a:solidFill>
                  <a:schemeClr val="dk1"/>
                </a:solidFill>
              </a:rPr>
              <a:t>), that memory is returned to the heap allocator.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>
                <a:solidFill>
                  <a:schemeClr val="dk1"/>
                </a:solidFill>
              </a:rPr>
              <a:t>However, in performance-critical programs (e.g., games, embedded systems, or allocators), constantly allocating and freeing small objects is </a:t>
            </a:r>
            <a:r>
              <a:rPr b="1" lang="zh-CN">
                <a:solidFill>
                  <a:schemeClr val="dk1"/>
                </a:solidFill>
              </a:rPr>
              <a:t>slow</a:t>
            </a:r>
            <a:r>
              <a:rPr lang="zh-CN">
                <a:solidFill>
                  <a:schemeClr val="dk1"/>
                </a:solidFill>
              </a:rPr>
              <a:t>.</a:t>
            </a:r>
            <a:br>
              <a:rPr lang="zh-CN">
                <a:solidFill>
                  <a:schemeClr val="dk1"/>
                </a:solidFill>
              </a:rPr>
            </a:br>
            <a:r>
              <a:rPr lang="zh-CN">
                <a:solidFill>
                  <a:schemeClr val="dk1"/>
                </a:solidFill>
              </a:rPr>
              <a:t> To solve this, we maintain our own </a:t>
            </a:r>
            <a:r>
              <a:rPr b="1" lang="zh-CN">
                <a:solidFill>
                  <a:schemeClr val="dk1"/>
                </a:solidFill>
              </a:rPr>
              <a:t>"free list"</a:t>
            </a:r>
            <a:r>
              <a:rPr lang="zh-CN">
                <a:solidFill>
                  <a:schemeClr val="dk1"/>
                </a:solidFill>
              </a:rPr>
              <a:t> — a linked list of previously freed memory blocks that can be quickly reused.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fe6eebb7f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9fe6eebb7f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fe6eebb7f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9fe6eebb7f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A free list is typically a </a:t>
            </a:r>
            <a:r>
              <a:rPr b="1" lang="zh-CN">
                <a:solidFill>
                  <a:schemeClr val="dk1"/>
                </a:solidFill>
              </a:rPr>
              <a:t>singly linked list</a:t>
            </a:r>
            <a:r>
              <a:rPr lang="zh-CN">
                <a:solidFill>
                  <a:schemeClr val="dk1"/>
                </a:solidFill>
              </a:rPr>
              <a:t> of memory blocks: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>
                <a:solidFill>
                  <a:schemeClr val="dk1"/>
                </a:solidFill>
              </a:rPr>
              <a:t>When you </a:t>
            </a:r>
            <a:r>
              <a:rPr b="1" lang="zh-CN">
                <a:solidFill>
                  <a:schemeClr val="dk1"/>
                </a:solidFill>
              </a:rPr>
              <a:t>free</a:t>
            </a:r>
            <a:r>
              <a:rPr lang="zh-CN">
                <a:solidFill>
                  <a:schemeClr val="dk1"/>
                </a:solidFill>
              </a:rPr>
              <a:t> an object, you don’t return it to the system — you </a:t>
            </a:r>
            <a:r>
              <a:rPr b="1" lang="zh-CN">
                <a:solidFill>
                  <a:schemeClr val="dk1"/>
                </a:solidFill>
              </a:rPr>
              <a:t>add it to the free list</a:t>
            </a:r>
            <a:r>
              <a:rPr lang="zh-CN">
                <a:solidFill>
                  <a:schemeClr val="dk1"/>
                </a:solidFill>
              </a:rPr>
              <a:t>.</a:t>
            </a:r>
            <a:br>
              <a:rPr lang="zh-C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>
                <a:solidFill>
                  <a:schemeClr val="dk1"/>
                </a:solidFill>
              </a:rPr>
              <a:t>When you </a:t>
            </a:r>
            <a:r>
              <a:rPr b="1" lang="zh-CN">
                <a:solidFill>
                  <a:schemeClr val="dk1"/>
                </a:solidFill>
              </a:rPr>
              <a:t>allocate</a:t>
            </a:r>
            <a:r>
              <a:rPr lang="zh-CN">
                <a:solidFill>
                  <a:schemeClr val="dk1"/>
                </a:solidFill>
              </a:rPr>
              <a:t>, you first check if the free list has a node available.</a:t>
            </a:r>
            <a:br>
              <a:rPr lang="zh-C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CN">
                <a:solidFill>
                  <a:schemeClr val="dk1"/>
                </a:solidFill>
              </a:rPr>
              <a:t>If yes → reuse that memory.</a:t>
            </a:r>
            <a:br>
              <a:rPr lang="zh-C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CN">
                <a:solidFill>
                  <a:schemeClr val="dk1"/>
                </a:solidFill>
              </a:rPr>
              <a:t>If not → allocate a new block from the heap.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fe6eebb7f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9fe6eebb7f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9fe6eebb7f_0_8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9fe6eebb7f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Free points to the next block we want to allocate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9fe6eebb7f_0_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9fe6eebb7f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Free points to the next block we want to allocate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9fe6eebb7f_0_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9fe6eebb7f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9fe6eebb7f_0_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g39fe6eebb7f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9fe6eebb7f_0_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9fe6eebb7f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fe6eebb7f_0_1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9fe6eebb7f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9fe6eebb7f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9fe6eebb7f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9fe6eebb7f_0_1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39fe6eebb7f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9fe6eebb7f_0_1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9fe6eebb7f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9fe6eebb7f_0_1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39fe6eebb7f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9fe6eebb7f_0_1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9fe6eebb7f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9fe6eebb7f_0_1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9fe6eebb7f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9fe6eebb7f_0_1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39fe6eebb7f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example: allocate a 100 bytes block, then deallocate it, now we need to add it to the free list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the first part of the block will be updated to be a free list node, eg: a ptr to the next node in the free list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free list node struct &lt; total block size, otherwise we can’t fit the free list node struct into the block, and can’t add it to the free list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if node struct &gt; block size: risk of memory corrupt as we might write the node out of the block space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9fe6eebb7f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9fe6eebb7f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9fe6eebb7f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9fe6eebb7f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A </a:t>
            </a:r>
            <a:r>
              <a:rPr b="1" lang="zh-CN">
                <a:solidFill>
                  <a:schemeClr val="dk1"/>
                </a:solidFill>
              </a:rPr>
              <a:t>binned free list</a:t>
            </a:r>
            <a:r>
              <a:rPr lang="zh-CN">
                <a:solidFill>
                  <a:schemeClr val="dk1"/>
                </a:solidFill>
              </a:rPr>
              <a:t> is a memory allocator design that organizes free memory blocks into </a:t>
            </a:r>
            <a:r>
              <a:rPr b="1" lang="zh-CN">
                <a:solidFill>
                  <a:schemeClr val="dk1"/>
                </a:solidFill>
              </a:rPr>
              <a:t>multiple “bins” (or “buckets”)</a:t>
            </a:r>
            <a:r>
              <a:rPr lang="zh-CN">
                <a:solidFill>
                  <a:schemeClr val="dk1"/>
                </a:solidFill>
              </a:rPr>
              <a:t>, each dedicated to a </a:t>
            </a:r>
            <a:r>
              <a:rPr b="1" lang="zh-CN">
                <a:solidFill>
                  <a:schemeClr val="dk1"/>
                </a:solidFill>
              </a:rPr>
              <a:t>specific block size range</a:t>
            </a:r>
            <a:r>
              <a:rPr lang="zh-C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Instead of having </a:t>
            </a:r>
            <a:r>
              <a:rPr b="1" lang="zh-CN">
                <a:solidFill>
                  <a:schemeClr val="dk1"/>
                </a:solidFill>
              </a:rPr>
              <a:t>one global free list</a:t>
            </a:r>
            <a:r>
              <a:rPr lang="zh-CN">
                <a:solidFill>
                  <a:schemeClr val="dk1"/>
                </a:solidFill>
              </a:rPr>
              <a:t> for all freed blocks (which would mix sizes),</a:t>
            </a:r>
            <a:br>
              <a:rPr lang="zh-CN">
                <a:solidFill>
                  <a:schemeClr val="dk1"/>
                </a:solidFill>
              </a:rPr>
            </a:br>
            <a:r>
              <a:rPr lang="zh-CN">
                <a:solidFill>
                  <a:schemeClr val="dk1"/>
                </a:solidFill>
              </a:rPr>
              <a:t> we maintain </a:t>
            </a:r>
            <a:r>
              <a:rPr b="1" lang="zh-CN">
                <a:solidFill>
                  <a:schemeClr val="dk1"/>
                </a:solidFill>
              </a:rPr>
              <a:t>separate free lists</a:t>
            </a:r>
            <a:r>
              <a:rPr lang="zh-CN">
                <a:solidFill>
                  <a:schemeClr val="dk1"/>
                </a:solidFill>
              </a:rPr>
              <a:t>, one for each block size class.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So you can think of it like this: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Bin[0] → free list for 16-byte blocks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Bin[1] → free list for 32-byte blocks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Bin[2] → free list for 64-byte blocks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Bin[3] → free list for 128-byte blocks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...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9fe6eebb7f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9fe6eebb7f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1700">
                <a:solidFill>
                  <a:schemeClr val="dk1"/>
                </a:solidFill>
              </a:rPr>
              <a:t>🚀 Benefits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✅ </a:t>
            </a:r>
            <a:r>
              <a:rPr b="1" lang="zh-CN">
                <a:solidFill>
                  <a:schemeClr val="dk1"/>
                </a:solidFill>
              </a:rPr>
              <a:t>Fast allocation/deallocation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>
                <a:solidFill>
                  <a:schemeClr val="dk1"/>
                </a:solidFill>
              </a:rPr>
              <a:t>O(1) for most operations — just push/pop from a linked list.</a:t>
            </a:r>
            <a:br>
              <a:rPr lang="zh-C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✅ </a:t>
            </a:r>
            <a:r>
              <a:rPr b="1" lang="zh-CN">
                <a:solidFill>
                  <a:schemeClr val="dk1"/>
                </a:solidFill>
              </a:rPr>
              <a:t>Reduced fragmentation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>
                <a:solidFill>
                  <a:schemeClr val="dk1"/>
                </a:solidFill>
              </a:rPr>
              <a:t>Blocks are reused within the same size bin.</a:t>
            </a:r>
            <a:br>
              <a:rPr lang="zh-C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✅ </a:t>
            </a:r>
            <a:r>
              <a:rPr b="1" lang="zh-CN">
                <a:solidFill>
                  <a:schemeClr val="dk1"/>
                </a:solidFill>
              </a:rPr>
              <a:t>Predictable behavior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>
                <a:solidFill>
                  <a:schemeClr val="dk1"/>
                </a:solidFill>
              </a:rPr>
              <a:t>Each bin size guarantees enough room for future allocations of that size.</a:t>
            </a:r>
            <a:br>
              <a:rPr lang="zh-C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CN" sz="1700">
                <a:solidFill>
                  <a:schemeClr val="dk1"/>
                </a:solidFill>
              </a:rPr>
              <a:t>⚠️ Trade-offs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❌ </a:t>
            </a:r>
            <a:r>
              <a:rPr b="1" lang="zh-CN">
                <a:solidFill>
                  <a:schemeClr val="dk1"/>
                </a:solidFill>
              </a:rPr>
              <a:t>Wasted space (internal fragmentation)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>
                <a:solidFill>
                  <a:schemeClr val="dk1"/>
                </a:solidFill>
              </a:rPr>
              <a:t>A 33-byte request uses a 64-byte block.</a:t>
            </a:r>
            <a:br>
              <a:rPr lang="zh-C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❌ </a:t>
            </a:r>
            <a:r>
              <a:rPr b="1" lang="zh-CN">
                <a:solidFill>
                  <a:schemeClr val="dk1"/>
                </a:solidFill>
              </a:rPr>
              <a:t>More metadata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>
                <a:solidFill>
                  <a:schemeClr val="dk1"/>
                </a:solidFill>
              </a:rPr>
              <a:t>You need to track multiple free lists and bin sizes.</a:t>
            </a:r>
            <a:br>
              <a:rPr lang="zh-C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>
                <a:solidFill>
                  <a:schemeClr val="dk1"/>
                </a:solidFill>
              </a:rPr>
              <a:t>❌ </a:t>
            </a:r>
            <a:r>
              <a:rPr b="1" lang="zh-CN">
                <a:solidFill>
                  <a:schemeClr val="dk1"/>
                </a:solidFill>
              </a:rPr>
              <a:t>Complexity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zh-CN">
                <a:solidFill>
                  <a:schemeClr val="dk1"/>
                </a:solidFill>
              </a:rPr>
              <a:t>Bin size selection and memory coalescing (for larger blocks) can get tricky.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9fe6eebb7f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9fe6eebb7f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9fe6eebb7f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9fe6eebb7f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</a:rPr>
              <a:t>Fragmentation happens when free memory is split into small, non-contiguous pieces, making it </a:t>
            </a:r>
            <a:r>
              <a:rPr b="1" lang="zh-CN">
                <a:solidFill>
                  <a:schemeClr val="dk1"/>
                </a:solidFill>
              </a:rPr>
              <a:t>hard to reuse efficiently</a:t>
            </a:r>
            <a:r>
              <a:rPr lang="zh-CN">
                <a:solidFill>
                  <a:schemeClr val="dk1"/>
                </a:solidFill>
              </a:rPr>
              <a:t>, even if the </a:t>
            </a:r>
            <a:r>
              <a:rPr i="1" lang="zh-CN">
                <a:solidFill>
                  <a:schemeClr val="dk1"/>
                </a:solidFill>
              </a:rPr>
              <a:t>total</a:t>
            </a:r>
            <a:r>
              <a:rPr lang="zh-CN">
                <a:solidFill>
                  <a:schemeClr val="dk1"/>
                </a:solidFill>
              </a:rPr>
              <a:t> free memory is large.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9fe6eebb7f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9fe6eebb7f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9fe6eebb7f_0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9fe6eebb7f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two ways to handle fragmentation during using free list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89572e622f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89572e622f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 showMasterSp="0" type="title">
  <p:cSld name="TITLE">
    <p:bg>
      <p:bgPr>
        <a:solidFill>
          <a:srgbClr val="FBF4E3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1" y="1482723"/>
            <a:ext cx="9144000" cy="366077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/>
          <p:nvPr/>
        </p:nvSpPr>
        <p:spPr>
          <a:xfrm>
            <a:off x="-1" y="0"/>
            <a:ext cx="9144000" cy="14826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86C5DD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7F7F7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59" name="Google Shape;59;p14"/>
          <p:cNvSpPr txBox="1"/>
          <p:nvPr>
            <p:ph type="ctrTitle"/>
          </p:nvPr>
        </p:nvSpPr>
        <p:spPr>
          <a:xfrm>
            <a:off x="800100" y="2857500"/>
            <a:ext cx="57303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7500" spcFirstLastPara="1" rIns="67500" wrap="square" tIns="35100">
            <a:spAutoFit/>
          </a:bodyPr>
          <a:lstStyle>
            <a:lvl1pPr lv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800100" y="3756777"/>
            <a:ext cx="5730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100" lIns="67500" spcFirstLastPara="1" rIns="67500" wrap="square" tIns="35100">
            <a:spAutoFit/>
          </a:bodyPr>
          <a:lstStyle>
            <a:lvl1pPr lv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Font typeface="Lucida Sans"/>
              <a:buNone/>
              <a:defRPr/>
            </a:lvl1pPr>
            <a:lvl2pPr lvl="1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∙"/>
              <a:defRPr/>
            </a:lvl2pPr>
            <a:lvl3pPr lvl="2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00"/>
              <a:buChar char="🞐"/>
              <a:defRPr/>
            </a:lvl3pPr>
            <a:lvl4pPr lvl="3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◆"/>
              <a:defRPr/>
            </a:lvl4pPr>
            <a:lvl5pPr lvl="4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»"/>
              <a:defRPr/>
            </a:lvl5pPr>
            <a:lvl6pPr lvl="5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»"/>
              <a:defRPr/>
            </a:lvl6pPr>
            <a:lvl7pPr lvl="6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»"/>
              <a:defRPr/>
            </a:lvl7pPr>
            <a:lvl8pPr lvl="7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»"/>
              <a:defRPr/>
            </a:lvl8pPr>
            <a:lvl9pPr lvl="8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»"/>
              <a:defRPr/>
            </a:lvl9pPr>
          </a:lstStyle>
          <a:p/>
        </p:txBody>
      </p:sp>
      <p:sp>
        <p:nvSpPr>
          <p:cNvPr id="61" name="Google Shape;61;p14"/>
          <p:cNvSpPr/>
          <p:nvPr/>
        </p:nvSpPr>
        <p:spPr>
          <a:xfrm>
            <a:off x="381000" y="421622"/>
            <a:ext cx="50484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 Performance Engineering</a:t>
            </a:r>
            <a:endParaRPr sz="1100"/>
          </a:p>
        </p:txBody>
      </p:sp>
      <p:sp>
        <p:nvSpPr>
          <p:cNvPr id="62" name="Google Shape;62;p14"/>
          <p:cNvSpPr txBox="1"/>
          <p:nvPr/>
        </p:nvSpPr>
        <p:spPr>
          <a:xfrm>
            <a:off x="0" y="4937984"/>
            <a:ext cx="91440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b" bIns="35100" lIns="67500" spcFirstLastPara="1" rIns="67500" wrap="square" tIns="351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900"/>
              <a:buFont typeface="Lucida Sans"/>
              <a:buNone/>
            </a:pPr>
            <a:r>
              <a:rPr b="0" i="0" lang="zh-CN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© 2008–2024 by the MIT 6.172 and 6.106 Lecturers</a:t>
            </a:r>
            <a:endParaRPr b="0" i="0" sz="900" u="none" cap="none" strike="noStrike">
              <a:solidFill>
                <a:srgbClr val="006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7010400" y="4914901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grpSp>
        <p:nvGrpSpPr>
          <p:cNvPr id="64" name="Google Shape;64;p14"/>
          <p:cNvGrpSpPr/>
          <p:nvPr/>
        </p:nvGrpSpPr>
        <p:grpSpPr>
          <a:xfrm>
            <a:off x="6477000" y="527362"/>
            <a:ext cx="2019300" cy="3750329"/>
            <a:chOff x="6591300" y="562162"/>
            <a:chExt cx="2019300" cy="5000438"/>
          </a:xfrm>
        </p:grpSpPr>
        <p:grpSp>
          <p:nvGrpSpPr>
            <p:cNvPr id="65" name="Google Shape;65;p14"/>
            <p:cNvGrpSpPr/>
            <p:nvPr/>
          </p:nvGrpSpPr>
          <p:grpSpPr>
            <a:xfrm>
              <a:off x="6591300" y="562162"/>
              <a:ext cx="2019300" cy="5000438"/>
              <a:chOff x="6591300" y="562162"/>
              <a:chExt cx="2019300" cy="5000438"/>
            </a:xfrm>
          </p:grpSpPr>
          <p:sp>
            <p:nvSpPr>
              <p:cNvPr id="66" name="Google Shape;66;p14"/>
              <p:cNvSpPr/>
              <p:nvPr/>
            </p:nvSpPr>
            <p:spPr>
              <a:xfrm>
                <a:off x="7515023" y="3048000"/>
                <a:ext cx="157800" cy="2514600"/>
              </a:xfrm>
              <a:prstGeom prst="rect">
                <a:avLst/>
              </a:prstGeom>
              <a:gradFill>
                <a:gsLst>
                  <a:gs pos="0">
                    <a:srgbClr val="7F7F7F"/>
                  </a:gs>
                  <a:gs pos="50000">
                    <a:schemeClr val="dk1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FFFFFF"/>
                  </a:solidFill>
                  <a:latin typeface="Lucida Sans"/>
                  <a:ea typeface="Lucida Sans"/>
                  <a:cs typeface="Lucida Sans"/>
                  <a:sym typeface="Lucida Sans"/>
                </a:endParaRPr>
              </a:p>
            </p:txBody>
          </p:sp>
          <p:pic>
            <p:nvPicPr>
              <p:cNvPr id="67" name="Google Shape;67;p1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6873250" y="1628159"/>
                <a:ext cx="1455400" cy="216518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8" name="Google Shape;68;p14"/>
              <p:cNvSpPr/>
              <p:nvPr/>
            </p:nvSpPr>
            <p:spPr>
              <a:xfrm>
                <a:off x="6591300" y="562162"/>
                <a:ext cx="2019300" cy="2853600"/>
              </a:xfrm>
              <a:prstGeom prst="roundRect">
                <a:avLst>
                  <a:gd fmla="val 16667" name="adj"/>
                </a:avLst>
              </a:prstGeom>
              <a:gradFill>
                <a:gsLst>
                  <a:gs pos="0">
                    <a:srgbClr val="BFBFBF"/>
                  </a:gs>
                  <a:gs pos="50000">
                    <a:srgbClr val="F2F2F2"/>
                  </a:gs>
                  <a:gs pos="100000">
                    <a:srgbClr val="F2F2F2"/>
                  </a:gs>
                </a:gsLst>
                <a:lin ang="10800025" scaled="0"/>
              </a:gradFill>
              <a:ln cap="flat" cmpd="sng" w="762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4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zh-CN" sz="2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SPEED</a:t>
                </a:r>
                <a:br>
                  <a:rPr b="1" i="0" lang="zh-CN" sz="2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b="1" i="0" lang="zh-CN" sz="2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LIMIT</a:t>
                </a:r>
                <a:endParaRPr sz="1100"/>
              </a:p>
            </p:txBody>
          </p:sp>
        </p:grpSp>
        <p:sp>
          <p:nvSpPr>
            <p:cNvPr id="69" name="Google Shape;69;p14"/>
            <p:cNvSpPr txBox="1"/>
            <p:nvPr/>
          </p:nvSpPr>
          <p:spPr>
            <a:xfrm>
              <a:off x="6913528" y="1179728"/>
              <a:ext cx="1374900" cy="2657700"/>
            </a:xfrm>
            <a:prstGeom prst="rect">
              <a:avLst/>
            </a:prstGeom>
            <a:noFill/>
            <a:ln>
              <a:noFill/>
            </a:ln>
            <a:effectLst>
              <a:outerShdw blurRad="76200" sx="57000" kx="-1200090" rotWithShape="0" algn="bl" dir="20880000" dist="1066800" sy="57000">
                <a:srgbClr val="000000">
                  <a:alpha val="20000"/>
                </a:srgbClr>
              </a:outerShdw>
            </a:effectLst>
          </p:spPr>
          <p:txBody>
            <a:bodyPr anchorCtr="1" anchor="ctr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zh-CN" sz="12500" u="none" cap="none" strike="noStrike">
                  <a:solidFill>
                    <a:srgbClr val="000000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∞</a:t>
              </a:r>
              <a:endParaRPr b="0" i="0" sz="225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</p:grpSp>
      <p:sp>
        <p:nvSpPr>
          <p:cNvPr id="70" name="Google Shape;70;p14"/>
          <p:cNvSpPr/>
          <p:nvPr/>
        </p:nvSpPr>
        <p:spPr>
          <a:xfrm rot="-5400000">
            <a:off x="7238718" y="3814650"/>
            <a:ext cx="514500" cy="657300"/>
          </a:xfrm>
          <a:prstGeom prst="moon">
            <a:avLst>
              <a:gd fmla="val 50000" name="adj"/>
            </a:avLst>
          </a:prstGeom>
          <a:solidFill>
            <a:srgbClr val="FBF4E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6477886" y="2391742"/>
            <a:ext cx="2017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 ORDER OF SPE</a:t>
            </a:r>
            <a:endParaRPr sz="11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solidFill>
          <a:srgbClr val="FBF4E3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1" y="1482723"/>
            <a:ext cx="9144000" cy="3660778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>
            <p:ph type="title"/>
          </p:nvPr>
        </p:nvSpPr>
        <p:spPr>
          <a:xfrm>
            <a:off x="363537" y="2857500"/>
            <a:ext cx="5751600" cy="10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7500" wrap="square" tIns="35100">
            <a:noAutofit/>
          </a:bodyPr>
          <a:lstStyle>
            <a:lvl1pPr lv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3000" cap="small"/>
            </a:lvl1pPr>
            <a:lvl2pPr lvl="1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/>
        </p:nvSpPr>
        <p:spPr>
          <a:xfrm>
            <a:off x="0" y="4937984"/>
            <a:ext cx="91440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b" bIns="35100" lIns="67500" spcFirstLastPara="1" rIns="67500" wrap="square" tIns="351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900"/>
              <a:buFont typeface="Lucida Sans"/>
              <a:buNone/>
            </a:pPr>
            <a:r>
              <a:rPr b="0" i="0" lang="zh-CN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© 2008–2024 by the MIT 6.172 and 6.106 Lecturers</a:t>
            </a:r>
            <a:endParaRPr b="0" i="0" sz="900" u="none" cap="none" strike="noStrike">
              <a:solidFill>
                <a:srgbClr val="006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-1" y="0"/>
            <a:ext cx="9144000" cy="14826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86C5DD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7F7F7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7010400" y="4914901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grpSp>
        <p:nvGrpSpPr>
          <p:cNvPr id="78" name="Google Shape;78;p15"/>
          <p:cNvGrpSpPr/>
          <p:nvPr/>
        </p:nvGrpSpPr>
        <p:grpSpPr>
          <a:xfrm>
            <a:off x="6477000" y="527362"/>
            <a:ext cx="2019300" cy="3750329"/>
            <a:chOff x="6591300" y="562162"/>
            <a:chExt cx="2019300" cy="5000438"/>
          </a:xfrm>
        </p:grpSpPr>
        <p:grpSp>
          <p:nvGrpSpPr>
            <p:cNvPr id="79" name="Google Shape;79;p15"/>
            <p:cNvGrpSpPr/>
            <p:nvPr/>
          </p:nvGrpSpPr>
          <p:grpSpPr>
            <a:xfrm>
              <a:off x="6591300" y="562162"/>
              <a:ext cx="2019300" cy="5000438"/>
              <a:chOff x="6591300" y="562162"/>
              <a:chExt cx="2019300" cy="5000438"/>
            </a:xfrm>
          </p:grpSpPr>
          <p:sp>
            <p:nvSpPr>
              <p:cNvPr id="80" name="Google Shape;80;p15"/>
              <p:cNvSpPr/>
              <p:nvPr/>
            </p:nvSpPr>
            <p:spPr>
              <a:xfrm>
                <a:off x="7515023" y="3048000"/>
                <a:ext cx="157800" cy="2514600"/>
              </a:xfrm>
              <a:prstGeom prst="rect">
                <a:avLst/>
              </a:prstGeom>
              <a:gradFill>
                <a:gsLst>
                  <a:gs pos="0">
                    <a:srgbClr val="7F7F7F"/>
                  </a:gs>
                  <a:gs pos="50000">
                    <a:schemeClr val="dk1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  <a:effectLst>
                <a:outerShdw blurRad="50800" rotWithShape="0" algn="tl" dir="27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FFFFFF"/>
                  </a:solidFill>
                  <a:latin typeface="Lucida Sans"/>
                  <a:ea typeface="Lucida Sans"/>
                  <a:cs typeface="Lucida Sans"/>
                  <a:sym typeface="Lucida Sans"/>
                </a:endParaRPr>
              </a:p>
            </p:txBody>
          </p:sp>
          <p:pic>
            <p:nvPicPr>
              <p:cNvPr id="81" name="Google Shape;81;p1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6873250" y="1628159"/>
                <a:ext cx="1455400" cy="216518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2" name="Google Shape;82;p15"/>
              <p:cNvSpPr/>
              <p:nvPr/>
            </p:nvSpPr>
            <p:spPr>
              <a:xfrm>
                <a:off x="6591300" y="562162"/>
                <a:ext cx="2019300" cy="2853600"/>
              </a:xfrm>
              <a:prstGeom prst="roundRect">
                <a:avLst>
                  <a:gd fmla="val 16667" name="adj"/>
                </a:avLst>
              </a:prstGeom>
              <a:gradFill>
                <a:gsLst>
                  <a:gs pos="0">
                    <a:srgbClr val="BFBFBF"/>
                  </a:gs>
                  <a:gs pos="50000">
                    <a:srgbClr val="F2F2F2"/>
                  </a:gs>
                  <a:gs pos="100000">
                    <a:srgbClr val="F2F2F2"/>
                  </a:gs>
                </a:gsLst>
                <a:lin ang="10800025" scaled="0"/>
              </a:gradFill>
              <a:ln cap="flat" cmpd="sng" w="762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4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zh-CN" sz="2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SPEED</a:t>
                </a:r>
                <a:br>
                  <a:rPr b="1" i="0" lang="zh-CN" sz="2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b="1" i="0" lang="zh-CN" sz="2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LIMIT</a:t>
                </a:r>
                <a:endParaRPr sz="1100"/>
              </a:p>
            </p:txBody>
          </p:sp>
        </p:grpSp>
        <p:sp>
          <p:nvSpPr>
            <p:cNvPr id="83" name="Google Shape;83;p15"/>
            <p:cNvSpPr txBox="1"/>
            <p:nvPr/>
          </p:nvSpPr>
          <p:spPr>
            <a:xfrm>
              <a:off x="6913528" y="1179728"/>
              <a:ext cx="1374900" cy="2657700"/>
            </a:xfrm>
            <a:prstGeom prst="rect">
              <a:avLst/>
            </a:prstGeom>
            <a:noFill/>
            <a:ln>
              <a:noFill/>
            </a:ln>
            <a:effectLst>
              <a:outerShdw blurRad="76200" sx="57000" kx="-1200090" rotWithShape="0" algn="bl" dir="20880000" dist="1066800" sy="57000">
                <a:srgbClr val="000000">
                  <a:alpha val="20000"/>
                </a:srgbClr>
              </a:outerShdw>
            </a:effectLst>
          </p:spPr>
          <p:txBody>
            <a:bodyPr anchorCtr="1" anchor="ctr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zh-CN" sz="12500" u="none" cap="none" strike="noStrike">
                  <a:solidFill>
                    <a:srgbClr val="000000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∞</a:t>
              </a:r>
              <a:endParaRPr b="0" i="0" sz="225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</p:grpSp>
      <p:sp>
        <p:nvSpPr>
          <p:cNvPr id="84" name="Google Shape;84;p15"/>
          <p:cNvSpPr/>
          <p:nvPr/>
        </p:nvSpPr>
        <p:spPr>
          <a:xfrm rot="-5400000">
            <a:off x="7238772" y="3562050"/>
            <a:ext cx="514500" cy="1162500"/>
          </a:xfrm>
          <a:prstGeom prst="moon">
            <a:avLst>
              <a:gd fmla="val 50000" name="adj"/>
            </a:avLst>
          </a:prstGeom>
          <a:solidFill>
            <a:srgbClr val="FBF4E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6477886" y="2391742"/>
            <a:ext cx="2017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 ORDER OF SPE</a:t>
            </a:r>
            <a:endParaRPr sz="11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0" y="0"/>
            <a:ext cx="914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7500" spcFirstLastPara="1" rIns="67500" wrap="square" tIns="35100">
            <a:noAutofit/>
          </a:bodyPr>
          <a:lstStyle>
            <a:lvl1pPr lv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7010400" y="4914901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685800" y="981075"/>
            <a:ext cx="77676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100" lIns="67500" spcFirstLastPara="1" rIns="67500" wrap="square" tIns="35100">
            <a:spAutoFit/>
          </a:bodyPr>
          <a:lstStyle>
            <a:lvl1pPr indent="-31115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●"/>
              <a:defRPr b="0"/>
            </a:lvl1pPr>
            <a:lvl2pPr indent="-2984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Noto Sans Symbols"/>
              <a:buChar char="🞐"/>
              <a:defRPr/>
            </a:lvl2pPr>
            <a:lvl3pPr indent="-2857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Font typeface="Noto Sans Symbols"/>
              <a:buChar char="◆"/>
              <a:defRPr/>
            </a:lvl3pPr>
            <a:lvl4pPr indent="-3048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Font typeface="Lucida Sans"/>
              <a:buChar char="○"/>
              <a:defRPr sz="15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»"/>
              <a:defRPr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»"/>
              <a:defRPr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»"/>
              <a:defRPr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 type="obj">
  <p:cSld name="OBJEC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447965" y="52201"/>
            <a:ext cx="82482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1" type="ftr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17"/>
          <p:cNvSpPr txBox="1"/>
          <p:nvPr>
            <p:ph idx="10" type="dt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17"/>
          <p:cNvSpPr txBox="1"/>
          <p:nvPr>
            <p:ph idx="12" type="sldNum"/>
          </p:nvPr>
        </p:nvSpPr>
        <p:spPr>
          <a:xfrm>
            <a:off x="7010400" y="491490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 b="0" i="0" sz="1200" u="none" cap="none" strike="noStrike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447965" y="52201"/>
            <a:ext cx="82482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688181" y="685800"/>
            <a:ext cx="77676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406400" lvl="0" marL="45720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●"/>
              <a:defRPr/>
            </a:lvl1pPr>
            <a:lvl2pPr indent="-381000" lvl="1" marL="9144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Char char="∙"/>
              <a:defRPr/>
            </a:lvl2pPr>
            <a:lvl3pPr indent="-3048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🞐"/>
              <a:defRPr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◆"/>
              <a:defRPr/>
            </a:lvl4pPr>
            <a:lvl5pPr indent="-355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11" type="ftr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18"/>
          <p:cNvSpPr txBox="1"/>
          <p:nvPr>
            <p:ph idx="10" type="dt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7010400" y="491490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 b="0" i="0" sz="1200" u="none" cap="none" strike="noStrike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1">
  <p:cSld name="1_Title 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76200" y="28575"/>
            <a:ext cx="8991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7500" spcFirstLastPara="1" rIns="67500" wrap="square" tIns="35100">
            <a:noAutofit/>
          </a:bodyPr>
          <a:lstStyle>
            <a:lvl1pPr lv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12" type="sldNum"/>
          </p:nvPr>
        </p:nvSpPr>
        <p:spPr>
          <a:xfrm>
            <a:off x="7010400" y="4914901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685800" y="981075"/>
            <a:ext cx="77676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100" lIns="67500" spcFirstLastPara="1" rIns="67500" wrap="square" tIns="35100">
            <a:spAutoFit/>
          </a:bodyPr>
          <a:lstStyle>
            <a:lvl1pPr indent="-3111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●"/>
              <a:defRPr b="0"/>
            </a:lvl1pPr>
            <a:lvl2pPr indent="-2984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Font typeface="Noto Sans Symbols"/>
              <a:buChar char="🞐"/>
              <a:defRPr/>
            </a:lvl2pPr>
            <a:lvl3pPr indent="-2857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900"/>
              <a:buFont typeface="Noto Sans Symbols"/>
              <a:buChar char="◆"/>
              <a:defRPr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Font typeface="Lucida Sans"/>
              <a:buChar char="○"/>
              <a:defRPr sz="15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»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»"/>
              <a:defRPr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»"/>
              <a:defRPr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»"/>
              <a:defRPr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172 Section Title" showMasterSp="0">
  <p:cSld name="6.172 Section Title">
    <p:bg>
      <p:bgPr>
        <a:solidFill>
          <a:srgbClr val="FBF4E3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3" y="1482722"/>
            <a:ext cx="9144002" cy="366077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0"/>
          <p:cNvSpPr/>
          <p:nvPr/>
        </p:nvSpPr>
        <p:spPr>
          <a:xfrm>
            <a:off x="-1" y="0"/>
            <a:ext cx="9144000" cy="1482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86C5DD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7F7F7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08" name="Google Shape;108;p20"/>
          <p:cNvSpPr txBox="1"/>
          <p:nvPr>
            <p:ph type="title"/>
          </p:nvPr>
        </p:nvSpPr>
        <p:spPr>
          <a:xfrm>
            <a:off x="581629" y="2975696"/>
            <a:ext cx="5751600" cy="10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7500" spcFirstLastPara="1" rIns="67500" wrap="square" tIns="35100">
            <a:noAutofit/>
          </a:bodyPr>
          <a:lstStyle>
            <a:lvl1pPr lv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3000" cap="small"/>
            </a:lvl1pPr>
            <a:lvl2pPr lvl="1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0"/>
          <p:cNvSpPr txBox="1"/>
          <p:nvPr/>
        </p:nvSpPr>
        <p:spPr>
          <a:xfrm>
            <a:off x="0" y="4937984"/>
            <a:ext cx="54291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b" bIns="35100" lIns="67500" spcFirstLastPara="1" rIns="67500" wrap="square" tIns="351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900"/>
              <a:buFont typeface="Lucida Sans"/>
              <a:buNone/>
            </a:pPr>
            <a:r>
              <a:rPr b="0" i="0" lang="zh-CN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© 2008–2024 by the MIT 6.172 and 6.106 Lecturers</a:t>
            </a:r>
            <a:endParaRPr b="0" i="0" sz="900" u="none" cap="none" strike="noStrike">
              <a:solidFill>
                <a:srgbClr val="006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7010400" y="4914901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grpSp>
        <p:nvGrpSpPr>
          <p:cNvPr id="111" name="Google Shape;111;p20"/>
          <p:cNvGrpSpPr/>
          <p:nvPr/>
        </p:nvGrpSpPr>
        <p:grpSpPr>
          <a:xfrm>
            <a:off x="6477000" y="527362"/>
            <a:ext cx="2019300" cy="3750329"/>
            <a:chOff x="6591300" y="562162"/>
            <a:chExt cx="2019300" cy="5000438"/>
          </a:xfrm>
        </p:grpSpPr>
        <p:grpSp>
          <p:nvGrpSpPr>
            <p:cNvPr id="112" name="Google Shape;112;p20"/>
            <p:cNvGrpSpPr/>
            <p:nvPr/>
          </p:nvGrpSpPr>
          <p:grpSpPr>
            <a:xfrm>
              <a:off x="6591300" y="562162"/>
              <a:ext cx="2019300" cy="5000438"/>
              <a:chOff x="6591300" y="562162"/>
              <a:chExt cx="2019300" cy="5000438"/>
            </a:xfrm>
          </p:grpSpPr>
          <p:sp>
            <p:nvSpPr>
              <p:cNvPr id="113" name="Google Shape;113;p20"/>
              <p:cNvSpPr/>
              <p:nvPr/>
            </p:nvSpPr>
            <p:spPr>
              <a:xfrm>
                <a:off x="7515023" y="3048000"/>
                <a:ext cx="157800" cy="2514600"/>
              </a:xfrm>
              <a:prstGeom prst="rect">
                <a:avLst/>
              </a:prstGeom>
              <a:gradFill>
                <a:gsLst>
                  <a:gs pos="0">
                    <a:srgbClr val="7F7F7F"/>
                  </a:gs>
                  <a:gs pos="50000">
                    <a:schemeClr val="dk1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  <a:effectLst>
                <a:outerShdw blurRad="38100" rotWithShape="0" algn="tl" dir="2700000" dist="28575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800" u="none" cap="none" strike="noStrike">
                  <a:solidFill>
                    <a:srgbClr val="FFFFFF"/>
                  </a:solidFill>
                  <a:latin typeface="Lucida Sans"/>
                  <a:ea typeface="Lucida Sans"/>
                  <a:cs typeface="Lucida Sans"/>
                  <a:sym typeface="Lucida Sans"/>
                </a:endParaRPr>
              </a:p>
            </p:txBody>
          </p:sp>
          <p:pic>
            <p:nvPicPr>
              <p:cNvPr id="114" name="Google Shape;114;p2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6873250" y="1628159"/>
                <a:ext cx="1455400" cy="216518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5" name="Google Shape;115;p20"/>
              <p:cNvSpPr/>
              <p:nvPr/>
            </p:nvSpPr>
            <p:spPr>
              <a:xfrm>
                <a:off x="6591300" y="562162"/>
                <a:ext cx="2019300" cy="2853600"/>
              </a:xfrm>
              <a:prstGeom prst="roundRect">
                <a:avLst>
                  <a:gd fmla="val 16667" name="adj"/>
                </a:avLst>
              </a:prstGeom>
              <a:gradFill>
                <a:gsLst>
                  <a:gs pos="0">
                    <a:srgbClr val="BFBFBF"/>
                  </a:gs>
                  <a:gs pos="50000">
                    <a:srgbClr val="F2F2F2"/>
                  </a:gs>
                  <a:gs pos="100000">
                    <a:srgbClr val="F2F2F2"/>
                  </a:gs>
                </a:gsLst>
                <a:lin ang="10800025" scaled="0"/>
              </a:gradFill>
              <a:ln cap="flat" cmpd="sng" w="571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38100" rotWithShape="0" algn="tl" dir="2400000" dist="28575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zh-CN" sz="2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SPEED</a:t>
                </a:r>
                <a:br>
                  <a:rPr b="1" i="0" lang="zh-CN" sz="2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b="1" i="0" lang="zh-CN" sz="27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LIMIT</a:t>
                </a:r>
                <a:endParaRPr sz="1100"/>
              </a:p>
            </p:txBody>
          </p:sp>
        </p:grpSp>
        <p:sp>
          <p:nvSpPr>
            <p:cNvPr id="116" name="Google Shape;116;p20"/>
            <p:cNvSpPr txBox="1"/>
            <p:nvPr/>
          </p:nvSpPr>
          <p:spPr>
            <a:xfrm>
              <a:off x="6913528" y="1179728"/>
              <a:ext cx="1374900" cy="2657700"/>
            </a:xfrm>
            <a:prstGeom prst="rect">
              <a:avLst/>
            </a:prstGeom>
            <a:noFill/>
            <a:ln>
              <a:noFill/>
            </a:ln>
            <a:effectLst>
              <a:outerShdw blurRad="57150" sx="57000" kx="-1200090" rotWithShape="0" algn="bl" dir="20880000" dist="800100" sy="57000">
                <a:srgbClr val="000000">
                  <a:alpha val="20000"/>
                </a:srgbClr>
              </a:outerShdw>
            </a:effectLst>
          </p:spPr>
          <p:txBody>
            <a:bodyPr anchorCtr="1" anchor="ctr" bIns="34275" lIns="68575" spcFirstLastPara="1" rIns="68575" wrap="square" tIns="342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zh-CN" sz="12500" u="none" cap="none" strike="noStrike">
                  <a:solidFill>
                    <a:srgbClr val="000000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∞</a:t>
              </a:r>
              <a:endParaRPr b="0" i="0" sz="22500" u="none" cap="none" strike="noStrike">
                <a:solidFill>
                  <a:srgbClr val="000000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</p:grpSp>
      <p:sp>
        <p:nvSpPr>
          <p:cNvPr id="117" name="Google Shape;117;p20"/>
          <p:cNvSpPr/>
          <p:nvPr/>
        </p:nvSpPr>
        <p:spPr>
          <a:xfrm rot="-5400000">
            <a:off x="7238772" y="3562350"/>
            <a:ext cx="514200" cy="1162200"/>
          </a:xfrm>
          <a:prstGeom prst="moon">
            <a:avLst>
              <a:gd fmla="val 50000" name="adj"/>
            </a:avLst>
          </a:prstGeom>
          <a:solidFill>
            <a:srgbClr val="FBF4E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6477886" y="2391742"/>
            <a:ext cx="2017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 ORDER OF SPE</a:t>
            </a:r>
            <a:endParaRPr sz="110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0" y="0"/>
            <a:ext cx="914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7500" spcFirstLastPara="1" rIns="67500" wrap="square" tIns="35100">
            <a:noAutofit/>
          </a:bodyPr>
          <a:lstStyle>
            <a:lvl1pPr lvl="0" marR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0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688181" y="685801"/>
            <a:ext cx="77676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100" lIns="67500" spcFirstLastPara="1" rIns="67500" wrap="square" tIns="35100">
            <a:spAutoFit/>
          </a:bodyPr>
          <a:lstStyle>
            <a:lvl1pPr indent="-311150" lvl="0" marL="4572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669933"/>
              </a:buClr>
              <a:buSzPts val="1800"/>
              <a:buFont typeface="Lucida Sans"/>
              <a:buChar char="∙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669933"/>
              </a:buClr>
              <a:buSzPts val="1100"/>
              <a:buFont typeface="Noto Sans Symbols"/>
              <a:buChar char="🞐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669933"/>
              </a:buClr>
              <a:buSzPts val="1400"/>
              <a:buFont typeface="Lucida Sans"/>
              <a:buChar char="◆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669933"/>
              </a:buClr>
              <a:buSzPts val="1500"/>
              <a:buFont typeface="Lucida Sans"/>
              <a:buChar char="»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93D0"/>
              </a:buClr>
              <a:buSzPts val="1500"/>
              <a:buFont typeface="Lucida Sans"/>
              <a:buChar char="»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93D0"/>
              </a:buClr>
              <a:buSzPts val="1400"/>
              <a:buFont typeface="Lucida Sans"/>
              <a:buChar char="»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93D0"/>
              </a:buClr>
              <a:buSzPts val="1400"/>
              <a:buFont typeface="Lucida Sans"/>
              <a:buChar char="»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93D0"/>
              </a:buClr>
              <a:buSzPts val="1400"/>
              <a:buFont typeface="Lucida Sans"/>
              <a:buChar char="»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/>
        </p:nvSpPr>
        <p:spPr>
          <a:xfrm>
            <a:off x="0" y="4937984"/>
            <a:ext cx="36576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b" bIns="35100" lIns="67500" spcFirstLastPara="1" rIns="67500" wrap="square" tIns="351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900"/>
              <a:buFont typeface="Lucida Sans"/>
              <a:buNone/>
            </a:pPr>
            <a:r>
              <a:rPr b="0" i="0" lang="zh-CN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© 2008–2024 by the MIT 6.172 and 6.106 Lecturers</a:t>
            </a:r>
            <a:endParaRPr b="0" i="0" sz="900" u="none" cap="none" strike="noStrike">
              <a:solidFill>
                <a:srgbClr val="006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7010400" y="4914901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Relationship Id="rId4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ctrTitle"/>
          </p:nvPr>
        </p:nvSpPr>
        <p:spPr>
          <a:xfrm>
            <a:off x="800100" y="2857500"/>
            <a:ext cx="57303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7500" spcFirstLastPara="1" rIns="67500" wrap="square" tIns="35100">
            <a:spAutoFit/>
          </a:bodyPr>
          <a:lstStyle/>
          <a:p>
            <a:pPr indent="0" lvl="0" marL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Recitation 2.3</a:t>
            </a:r>
            <a:endParaRPr/>
          </a:p>
        </p:txBody>
      </p:sp>
      <p:sp>
        <p:nvSpPr>
          <p:cNvPr id="135" name="Google Shape;135;p24"/>
          <p:cNvSpPr txBox="1"/>
          <p:nvPr>
            <p:ph idx="1" type="subTitle"/>
          </p:nvPr>
        </p:nvSpPr>
        <p:spPr>
          <a:xfrm>
            <a:off x="800100" y="3756777"/>
            <a:ext cx="57303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100" lIns="67500" spcFirstLastPara="1" rIns="67500" wrap="square" tIns="351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Lucida Sans"/>
              <a:buNone/>
            </a:pPr>
            <a:r>
              <a:rPr lang="zh-CN"/>
              <a:t>Atharva Kirkole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Lucida Sans"/>
              <a:buNone/>
            </a:pPr>
            <a:r>
              <a:rPr lang="zh-CN"/>
              <a:t>Tuesday, November 4,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0" y="0"/>
            <a:ext cx="914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7500" spcFirstLastPara="1" rIns="67500" wrap="square" tIns="35100">
            <a:noAutofit/>
          </a:bodyPr>
          <a:lstStyle/>
          <a:p>
            <a:pPr indent="0" lvl="0" marL="0" rt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Attendance!</a:t>
            </a:r>
            <a:endParaRPr/>
          </a:p>
        </p:txBody>
      </p:sp>
      <p:sp>
        <p:nvSpPr>
          <p:cNvPr id="141" name="Google Shape;141;p25"/>
          <p:cNvSpPr txBox="1"/>
          <p:nvPr>
            <p:ph idx="12" type="sldNum"/>
          </p:nvPr>
        </p:nvSpPr>
        <p:spPr>
          <a:xfrm>
            <a:off x="7010400" y="4914901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42" name="Google Shape;142;p25"/>
          <p:cNvSpPr txBox="1"/>
          <p:nvPr/>
        </p:nvSpPr>
        <p:spPr>
          <a:xfrm>
            <a:off x="843750" y="4188513"/>
            <a:ext cx="74565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100" lIns="67500" spcFirstLastPara="1" rIns="67500" wrap="square" tIns="351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/>
              <a:t>Be prepared to work with your teammate!</a:t>
            </a:r>
            <a:endParaRPr sz="2100">
              <a:solidFill>
                <a:srgbClr val="000000"/>
              </a:solidFill>
            </a:endParaRPr>
          </a:p>
        </p:txBody>
      </p:sp>
      <p:pic>
        <p:nvPicPr>
          <p:cNvPr id="143" name="Google Shape;143;p25" title="A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8425" y="649625"/>
            <a:ext cx="3312214" cy="3312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0" y="0"/>
            <a:ext cx="9144000" cy="571500"/>
          </a:xfrm>
          <a:prstGeom prst="rect">
            <a:avLst/>
          </a:prstGeom>
        </p:spPr>
        <p:txBody>
          <a:bodyPr anchorCtr="0" anchor="ctr" bIns="34275" lIns="67500" spcFirstLastPara="1" rIns="67500" wrap="square" tIns="3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Some due dates</a:t>
            </a:r>
            <a:endParaRPr/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685800" y="981075"/>
            <a:ext cx="7767600" cy="765900"/>
          </a:xfrm>
          <a:prstGeom prst="rect">
            <a:avLst/>
          </a:prstGeom>
        </p:spPr>
        <p:txBody>
          <a:bodyPr anchorCtr="0" anchor="t" bIns="35100" lIns="67500" spcFirstLastPara="1" rIns="67500" wrap="square" tIns="35100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300"/>
              <a:buChar char="●"/>
            </a:pPr>
            <a:r>
              <a:rPr lang="zh-CN"/>
              <a:t>HW 4 due 19th Oct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zh-CN"/>
              <a:t>QUIZ 1 22nd Oct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0" y="0"/>
            <a:ext cx="9144000" cy="571500"/>
          </a:xfrm>
          <a:prstGeom prst="rect">
            <a:avLst/>
          </a:prstGeom>
        </p:spPr>
        <p:txBody>
          <a:bodyPr anchorCtr="0" anchor="ctr" bIns="34275" lIns="67500" spcFirstLastPara="1" rIns="67500" wrap="square" tIns="351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Parallelization</a:t>
            </a:r>
            <a:endParaRPr/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685800" y="981075"/>
            <a:ext cx="7767600" cy="394200"/>
          </a:xfrm>
          <a:prstGeom prst="rect">
            <a:avLst/>
          </a:prstGeom>
        </p:spPr>
        <p:txBody>
          <a:bodyPr anchorCtr="0" anchor="t" bIns="35100" lIns="67500" spcFirstLastPara="1" rIns="67500" wrap="square" tIns="35100">
            <a:sp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750" y="716950"/>
            <a:ext cx="8499800" cy="393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type="title"/>
          </p:nvPr>
        </p:nvSpPr>
        <p:spPr>
          <a:xfrm>
            <a:off x="0" y="0"/>
            <a:ext cx="9144000" cy="571500"/>
          </a:xfrm>
          <a:prstGeom prst="rect">
            <a:avLst/>
          </a:prstGeom>
        </p:spPr>
        <p:txBody>
          <a:bodyPr anchorCtr="0" anchor="ctr" bIns="34275" lIns="67500" spcFirstLastPara="1" rIns="67500" wrap="square" tIns="3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8"/>
          <p:cNvSpPr txBox="1"/>
          <p:nvPr>
            <p:ph idx="1" type="body"/>
          </p:nvPr>
        </p:nvSpPr>
        <p:spPr>
          <a:xfrm>
            <a:off x="445175" y="1092125"/>
            <a:ext cx="7767600" cy="765900"/>
          </a:xfrm>
          <a:prstGeom prst="rect">
            <a:avLst/>
          </a:prstGeom>
        </p:spPr>
        <p:txBody>
          <a:bodyPr anchorCtr="0" anchor="t" bIns="35100" lIns="67500" spcFirstLastPara="1" rIns="67500" wrap="square" tIns="3510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Iteration space of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:</a:t>
            </a:r>
            <a:endParaRPr/>
          </a:p>
        </p:txBody>
      </p:sp>
      <p:pic>
        <p:nvPicPr>
          <p:cNvPr id="163" name="Google Shape;16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994" y="1458596"/>
            <a:ext cx="3633323" cy="1390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8"/>
          <p:cNvSpPr txBox="1"/>
          <p:nvPr/>
        </p:nvSpPr>
        <p:spPr>
          <a:xfrm>
            <a:off x="940663" y="3151025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</a:rPr>
              <a:t>Triangles can be run in parallel. Rectangle should be run before/after the triangles.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65" name="Google Shape;16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2625" y="995338"/>
            <a:ext cx="3895725" cy="290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>
            <p:ph type="title"/>
          </p:nvPr>
        </p:nvSpPr>
        <p:spPr>
          <a:xfrm>
            <a:off x="0" y="0"/>
            <a:ext cx="9144000" cy="571500"/>
          </a:xfrm>
          <a:prstGeom prst="rect">
            <a:avLst/>
          </a:prstGeom>
        </p:spPr>
        <p:txBody>
          <a:bodyPr anchorCtr="0" anchor="ctr" bIns="34275" lIns="67500" spcFirstLastPara="1" rIns="67500" wrap="square" tIns="3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Guidelines</a:t>
            </a:r>
            <a:endParaRPr/>
          </a:p>
        </p:txBody>
      </p:sp>
      <p:sp>
        <p:nvSpPr>
          <p:cNvPr id="171" name="Google Shape;171;p29"/>
          <p:cNvSpPr txBox="1"/>
          <p:nvPr>
            <p:ph idx="1" type="body"/>
          </p:nvPr>
        </p:nvSpPr>
        <p:spPr>
          <a:xfrm>
            <a:off x="688200" y="870025"/>
            <a:ext cx="7767600" cy="3591300"/>
          </a:xfrm>
          <a:prstGeom prst="rect">
            <a:avLst/>
          </a:prstGeom>
        </p:spPr>
        <p:txBody>
          <a:bodyPr anchorCtr="0" anchor="t" bIns="35100" lIns="67500" spcFirstLastPara="1" rIns="67500" wrap="square" tIns="3510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zh-CN"/>
              <a:t>Tier for Guaranteed B in Beta : 47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Your code must match the behavior of the original code exactly!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ida Sans"/>
              <a:buChar char="○"/>
            </a:pPr>
            <a:r>
              <a:rPr lang="zh-CN"/>
              <a:t>Beware of the lack of floating point associativity!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ida Sans"/>
              <a:buChar char="○"/>
            </a:pPr>
            <a:r>
              <a:rPr lang="zh-CN"/>
              <a:t>No -ffast-math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 No determinacy races (including benign races)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ida Sans"/>
              <a:buChar char="○"/>
            </a:pPr>
            <a:r>
              <a:rPr lang="zh-CN"/>
              <a:t>Cilksan should report no races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Intrinsics for atomic operations and locks are not allowed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ucida Sans"/>
              <a:buChar char="○"/>
            </a:pPr>
            <a:r>
              <a:rPr lang="zh-CN"/>
              <a:t>Ex. the compare-and-swap intrinsic</a:t>
            </a:r>
            <a:endParaRPr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>
            <p:ph type="title"/>
          </p:nvPr>
        </p:nvSpPr>
        <p:spPr>
          <a:xfrm>
            <a:off x="363537" y="2857500"/>
            <a:ext cx="5751600" cy="1031100"/>
          </a:xfrm>
          <a:prstGeom prst="rect">
            <a:avLst/>
          </a:prstGeom>
        </p:spPr>
        <p:txBody>
          <a:bodyPr anchorCtr="0" anchor="t" bIns="34275" lIns="67500" spcFirstLastPara="1" rIns="67500" wrap="square" tIns="351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cap="none"/>
              <a:t>Malloc and Free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type="title"/>
          </p:nvPr>
        </p:nvSpPr>
        <p:spPr>
          <a:xfrm>
            <a:off x="76200" y="28575"/>
            <a:ext cx="8991600" cy="514500"/>
          </a:xfrm>
          <a:prstGeom prst="rect">
            <a:avLst/>
          </a:prstGeom>
        </p:spPr>
        <p:txBody>
          <a:bodyPr anchorCtr="0" anchor="ctr" bIns="34275" lIns="67500" spcFirstLastPara="1" rIns="67500" wrap="square" tIns="351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Malloc, Free, and Realloc</a:t>
            </a:r>
            <a:endParaRPr/>
          </a:p>
        </p:txBody>
      </p:sp>
      <p:sp>
        <p:nvSpPr>
          <p:cNvPr id="182" name="Google Shape;182;p31"/>
          <p:cNvSpPr txBox="1"/>
          <p:nvPr>
            <p:ph idx="1" type="body"/>
          </p:nvPr>
        </p:nvSpPr>
        <p:spPr>
          <a:xfrm>
            <a:off x="685800" y="981075"/>
            <a:ext cx="7767600" cy="2124900"/>
          </a:xfrm>
          <a:prstGeom prst="rect">
            <a:avLst/>
          </a:prstGeom>
        </p:spPr>
        <p:txBody>
          <a:bodyPr anchorCtr="0" anchor="t" bIns="35100" lIns="67500" spcFirstLastPara="1" rIns="67500" wrap="square" tIns="351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>
                <a:latin typeface="Courier New"/>
                <a:ea typeface="Courier New"/>
                <a:cs typeface="Courier New"/>
                <a:sym typeface="Courier New"/>
              </a:rPr>
              <a:t>void* addr = malloc(size_t size)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Allocates a chunk of memory of size </a:t>
            </a:r>
            <a:r>
              <a:rPr lang="zh-CN"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zh-CN">
                <a:latin typeface="Courier New"/>
                <a:ea typeface="Courier New"/>
                <a:cs typeface="Courier New"/>
                <a:sym typeface="Courier New"/>
              </a:rPr>
              <a:t>void free(void* addr)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Frees the allocated chunk of memory starting at </a:t>
            </a:r>
            <a:r>
              <a:rPr lang="zh-CN">
                <a:latin typeface="Courier New"/>
                <a:ea typeface="Courier New"/>
                <a:cs typeface="Courier New"/>
                <a:sym typeface="Courier New"/>
              </a:rPr>
              <a:t>addr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>
            <p:ph type="title"/>
          </p:nvPr>
        </p:nvSpPr>
        <p:spPr>
          <a:xfrm>
            <a:off x="363537" y="2857500"/>
            <a:ext cx="5751600" cy="1031100"/>
          </a:xfrm>
          <a:prstGeom prst="rect">
            <a:avLst/>
          </a:prstGeom>
        </p:spPr>
        <p:txBody>
          <a:bodyPr anchorCtr="0" anchor="t" bIns="34275" lIns="67500" spcFirstLastPara="1" rIns="67500" wrap="square" tIns="351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cap="none"/>
              <a:t>Free Lists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3"/>
          <p:cNvSpPr txBox="1"/>
          <p:nvPr>
            <p:ph type="title"/>
          </p:nvPr>
        </p:nvSpPr>
        <p:spPr>
          <a:xfrm>
            <a:off x="76200" y="28575"/>
            <a:ext cx="8991600" cy="514500"/>
          </a:xfrm>
          <a:prstGeom prst="rect">
            <a:avLst/>
          </a:prstGeom>
        </p:spPr>
        <p:txBody>
          <a:bodyPr anchorCtr="0" anchor="ctr" bIns="34275" lIns="67500" spcFirstLastPara="1" rIns="67500" wrap="square" tIns="351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Free Lists</a:t>
            </a:r>
            <a:endParaRPr/>
          </a:p>
        </p:txBody>
      </p:sp>
      <p:sp>
        <p:nvSpPr>
          <p:cNvPr id="193" name="Google Shape;193;p33"/>
          <p:cNvSpPr txBox="1"/>
          <p:nvPr>
            <p:ph idx="1" type="body"/>
          </p:nvPr>
        </p:nvSpPr>
        <p:spPr>
          <a:xfrm>
            <a:off x="685800" y="981075"/>
            <a:ext cx="7767600" cy="1509300"/>
          </a:xfrm>
          <a:prstGeom prst="rect">
            <a:avLst/>
          </a:prstGeom>
        </p:spPr>
        <p:txBody>
          <a:bodyPr anchorCtr="0" anchor="t" bIns="35100" lIns="67500" spcFirstLastPara="1" rIns="67500" wrap="square" tIns="3510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Can implement as a singly linked list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Keeps track of deallocated memory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Allows us to reuse memory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Most memory allocators use a freelist of some sort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/>
          <p:nvPr>
            <p:ph type="title"/>
          </p:nvPr>
        </p:nvSpPr>
        <p:spPr>
          <a:xfrm>
            <a:off x="363537" y="2857500"/>
            <a:ext cx="5751600" cy="1031100"/>
          </a:xfrm>
          <a:prstGeom prst="rect">
            <a:avLst/>
          </a:prstGeom>
        </p:spPr>
        <p:txBody>
          <a:bodyPr anchorCtr="0" anchor="t" bIns="34275" lIns="67500" spcFirstLastPara="1" rIns="67500" wrap="square" tIns="35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cap="none"/>
              <a:t>Allocating Memory w/ Free Lists (fixed size blocks)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62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5"/>
          <p:cNvPicPr preferRelativeResize="0"/>
          <p:nvPr/>
        </p:nvPicPr>
        <p:blipFill rotWithShape="1">
          <a:blip r:embed="rId4">
            <a:alphaModFix/>
          </a:blip>
          <a:srcRect b="56401" l="0" r="0" t="16884"/>
          <a:stretch/>
        </p:blipFill>
        <p:spPr>
          <a:xfrm>
            <a:off x="1346200" y="2365175"/>
            <a:ext cx="6451600" cy="12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5"/>
          <p:cNvSpPr txBox="1"/>
          <p:nvPr/>
        </p:nvSpPr>
        <p:spPr>
          <a:xfrm>
            <a:off x="372425" y="1193775"/>
            <a:ext cx="1050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zh-CN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Before:</a:t>
            </a:r>
            <a:endParaRPr b="1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6" name="Google Shape;206;p35"/>
          <p:cNvSpPr txBox="1"/>
          <p:nvPr/>
        </p:nvSpPr>
        <p:spPr>
          <a:xfrm>
            <a:off x="430575" y="2652250"/>
            <a:ext cx="1050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zh-CN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After:</a:t>
            </a:r>
            <a:endParaRPr b="1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62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62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62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62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62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1"/>
          <p:cNvSpPr txBox="1"/>
          <p:nvPr>
            <p:ph type="title"/>
          </p:nvPr>
        </p:nvSpPr>
        <p:spPr>
          <a:xfrm>
            <a:off x="363537" y="2857500"/>
            <a:ext cx="5751600" cy="1031100"/>
          </a:xfrm>
          <a:prstGeom prst="rect">
            <a:avLst/>
          </a:prstGeom>
        </p:spPr>
        <p:txBody>
          <a:bodyPr anchorCtr="0" anchor="t" bIns="34275" lIns="67500" spcFirstLastPara="1" rIns="67500" wrap="square" tIns="35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cap="none"/>
              <a:t>Freeing</a:t>
            </a:r>
            <a:r>
              <a:rPr lang="zh-CN" cap="none"/>
              <a:t> Memory w/ Free Lists (fixed size blocks)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2"/>
          <p:cNvPicPr preferRelativeResize="0"/>
          <p:nvPr/>
        </p:nvPicPr>
        <p:blipFill rotWithShape="1">
          <a:blip r:embed="rId3">
            <a:alphaModFix/>
          </a:blip>
          <a:srcRect b="59462" l="0" r="0" t="0"/>
          <a:stretch/>
        </p:blipFill>
        <p:spPr>
          <a:xfrm>
            <a:off x="1346200" y="152400"/>
            <a:ext cx="6451600" cy="196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42"/>
          <p:cNvPicPr preferRelativeResize="0"/>
          <p:nvPr/>
        </p:nvPicPr>
        <p:blipFill rotWithShape="1">
          <a:blip r:embed="rId4">
            <a:alphaModFix/>
          </a:blip>
          <a:srcRect b="54451" l="0" r="0" t="17721"/>
          <a:stretch/>
        </p:blipFill>
        <p:spPr>
          <a:xfrm>
            <a:off x="1346200" y="2381450"/>
            <a:ext cx="6451600" cy="134647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42"/>
          <p:cNvSpPr txBox="1"/>
          <p:nvPr/>
        </p:nvSpPr>
        <p:spPr>
          <a:xfrm>
            <a:off x="372425" y="1269975"/>
            <a:ext cx="1050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zh-CN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Before:</a:t>
            </a:r>
            <a:endParaRPr b="1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4" name="Google Shape;244;p42"/>
          <p:cNvSpPr txBox="1"/>
          <p:nvPr/>
        </p:nvSpPr>
        <p:spPr>
          <a:xfrm>
            <a:off x="430575" y="2576050"/>
            <a:ext cx="1050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zh-CN" sz="18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After:</a:t>
            </a:r>
            <a:endParaRPr b="1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62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62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62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62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7"/>
          <p:cNvSpPr/>
          <p:nvPr/>
        </p:nvSpPr>
        <p:spPr>
          <a:xfrm>
            <a:off x="1004250" y="2125800"/>
            <a:ext cx="7135500" cy="8919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47"/>
          <p:cNvSpPr txBox="1"/>
          <p:nvPr/>
        </p:nvSpPr>
        <p:spPr>
          <a:xfrm>
            <a:off x="1010850" y="2125775"/>
            <a:ext cx="2408400" cy="8919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47"/>
          <p:cNvSpPr txBox="1"/>
          <p:nvPr/>
        </p:nvSpPr>
        <p:spPr>
          <a:xfrm>
            <a:off x="4655825" y="2285400"/>
            <a:ext cx="1904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zh-C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Unused data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7"/>
          <p:cNvSpPr txBox="1"/>
          <p:nvPr/>
        </p:nvSpPr>
        <p:spPr>
          <a:xfrm>
            <a:off x="1361250" y="2285400"/>
            <a:ext cx="1707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zh-C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ptr to </a:t>
            </a:r>
            <a:r>
              <a:rPr b="0" i="0" lang="zh-CN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next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73" name="Google Shape;273;p47"/>
          <p:cNvCxnSpPr/>
          <p:nvPr/>
        </p:nvCxnSpPr>
        <p:spPr>
          <a:xfrm rot="10800000">
            <a:off x="1575750" y="3196225"/>
            <a:ext cx="0" cy="683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4" name="Google Shape;274;p47"/>
          <p:cNvSpPr txBox="1"/>
          <p:nvPr/>
        </p:nvSpPr>
        <p:spPr>
          <a:xfrm>
            <a:off x="1010850" y="3939400"/>
            <a:ext cx="286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zh-C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Freelist node struct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7"/>
          <p:cNvSpPr txBox="1"/>
          <p:nvPr/>
        </p:nvSpPr>
        <p:spPr>
          <a:xfrm>
            <a:off x="4477025" y="4038850"/>
            <a:ext cx="4346700" cy="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zh-C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*Need to make sure Freelist node struct is smaller than the size of the block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7"/>
          <p:cNvSpPr txBox="1"/>
          <p:nvPr/>
        </p:nvSpPr>
        <p:spPr>
          <a:xfrm>
            <a:off x="619525" y="1642450"/>
            <a:ext cx="8502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zh-CN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addr</a:t>
            </a:r>
            <a:endParaRPr b="0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7" name="Google Shape;277;p47"/>
          <p:cNvSpPr txBox="1"/>
          <p:nvPr>
            <p:ph type="title"/>
          </p:nvPr>
        </p:nvSpPr>
        <p:spPr>
          <a:xfrm>
            <a:off x="76200" y="28575"/>
            <a:ext cx="8991600" cy="5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What does a freed block look like?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8"/>
          <p:cNvSpPr txBox="1"/>
          <p:nvPr>
            <p:ph type="title"/>
          </p:nvPr>
        </p:nvSpPr>
        <p:spPr>
          <a:xfrm>
            <a:off x="363537" y="2857500"/>
            <a:ext cx="5751600" cy="1031100"/>
          </a:xfrm>
          <a:prstGeom prst="rect">
            <a:avLst/>
          </a:prstGeom>
        </p:spPr>
        <p:txBody>
          <a:bodyPr anchorCtr="0" anchor="t" bIns="34275" lIns="67500" spcFirstLastPara="1" rIns="67500" wrap="square" tIns="351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cap="none"/>
              <a:t>Binned Free Lists</a:t>
            </a:r>
            <a:endParaRPr cap="none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9"/>
          <p:cNvSpPr txBox="1"/>
          <p:nvPr>
            <p:ph type="title"/>
          </p:nvPr>
        </p:nvSpPr>
        <p:spPr>
          <a:xfrm>
            <a:off x="76200" y="28575"/>
            <a:ext cx="8991600" cy="514500"/>
          </a:xfrm>
          <a:prstGeom prst="rect">
            <a:avLst/>
          </a:prstGeom>
        </p:spPr>
        <p:txBody>
          <a:bodyPr anchorCtr="0" anchor="ctr" bIns="34275" lIns="67500" spcFirstLastPara="1" rIns="67500" wrap="square" tIns="351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Binned Free Lists</a:t>
            </a:r>
            <a:endParaRPr/>
          </a:p>
        </p:txBody>
      </p:sp>
      <p:sp>
        <p:nvSpPr>
          <p:cNvPr id="288" name="Google Shape;288;p49"/>
          <p:cNvSpPr txBox="1"/>
          <p:nvPr>
            <p:ph idx="1" type="body"/>
          </p:nvPr>
        </p:nvSpPr>
        <p:spPr>
          <a:xfrm>
            <a:off x="311700" y="920400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Allocate chunks of memory at specific sizes</a:t>
            </a:r>
            <a:br>
              <a:rPr lang="zh-CN"/>
            </a:br>
            <a:r>
              <a:rPr lang="zh-CN"/>
              <a:t>(i.e. round up user’s requested size to the next power of 2)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Maintain free lists for these different sizes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Need to keep track of chunk sizes</a:t>
            </a:r>
            <a:br>
              <a:rPr lang="zh-CN"/>
            </a:br>
            <a:r>
              <a:rPr lang="zh-CN"/>
              <a:t>The user will only give us the pointer, not the size!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Store this information in </a:t>
            </a:r>
            <a:r>
              <a:rPr b="1" lang="zh-CN"/>
              <a:t>headers</a:t>
            </a:r>
            <a:r>
              <a:rPr lang="zh-CN"/>
              <a:t>.</a:t>
            </a:r>
            <a:endParaRPr/>
          </a:p>
        </p:txBody>
      </p:sp>
      <p:sp>
        <p:nvSpPr>
          <p:cNvPr id="289" name="Google Shape;289;p49"/>
          <p:cNvSpPr/>
          <p:nvPr/>
        </p:nvSpPr>
        <p:spPr>
          <a:xfrm>
            <a:off x="1152600" y="3933275"/>
            <a:ext cx="2002500" cy="432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49"/>
          <p:cNvSpPr txBox="1"/>
          <p:nvPr/>
        </p:nvSpPr>
        <p:spPr>
          <a:xfrm>
            <a:off x="2780650" y="3538075"/>
            <a:ext cx="8067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addr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1" name="Google Shape;291;p49"/>
          <p:cNvSpPr txBox="1"/>
          <p:nvPr/>
        </p:nvSpPr>
        <p:spPr>
          <a:xfrm>
            <a:off x="1455150" y="4482450"/>
            <a:ext cx="1397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9"/>
          <p:cNvSpPr txBox="1"/>
          <p:nvPr/>
        </p:nvSpPr>
        <p:spPr>
          <a:xfrm>
            <a:off x="3479500" y="4482450"/>
            <a:ext cx="41997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actual memory the user receives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49"/>
          <p:cNvSpPr/>
          <p:nvPr/>
        </p:nvSpPr>
        <p:spPr>
          <a:xfrm>
            <a:off x="1152600" y="3941575"/>
            <a:ext cx="6886800" cy="432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49"/>
          <p:cNvSpPr txBox="1"/>
          <p:nvPr/>
        </p:nvSpPr>
        <p:spPr>
          <a:xfrm>
            <a:off x="1750500" y="3955975"/>
            <a:ext cx="8067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5" name="Google Shape;295;p49"/>
          <p:cNvSpPr/>
          <p:nvPr/>
        </p:nvSpPr>
        <p:spPr>
          <a:xfrm>
            <a:off x="1152600" y="3933275"/>
            <a:ext cx="2002500" cy="432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49"/>
          <p:cNvSpPr txBox="1"/>
          <p:nvPr/>
        </p:nvSpPr>
        <p:spPr>
          <a:xfrm>
            <a:off x="1750500" y="3955975"/>
            <a:ext cx="8067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size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62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1"/>
          <p:cNvSpPr txBox="1"/>
          <p:nvPr>
            <p:ph type="title"/>
          </p:nvPr>
        </p:nvSpPr>
        <p:spPr>
          <a:xfrm>
            <a:off x="363537" y="2857500"/>
            <a:ext cx="5751600" cy="1031100"/>
          </a:xfrm>
          <a:prstGeom prst="rect">
            <a:avLst/>
          </a:prstGeom>
        </p:spPr>
        <p:txBody>
          <a:bodyPr anchorCtr="0" anchor="t" bIns="34275" lIns="67500" spcFirstLastPara="1" rIns="67500" wrap="square" tIns="351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cap="none"/>
              <a:t>Fragmentation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2"/>
          <p:cNvSpPr txBox="1"/>
          <p:nvPr>
            <p:ph type="title"/>
          </p:nvPr>
        </p:nvSpPr>
        <p:spPr>
          <a:xfrm>
            <a:off x="76200" y="28575"/>
            <a:ext cx="8991600" cy="514500"/>
          </a:xfrm>
          <a:prstGeom prst="rect">
            <a:avLst/>
          </a:prstGeom>
        </p:spPr>
        <p:txBody>
          <a:bodyPr anchorCtr="0" anchor="ctr" bIns="34275" lIns="67500" spcFirstLastPara="1" rIns="67500" wrap="square" tIns="351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What is fragmentation?</a:t>
            </a:r>
            <a:endParaRPr/>
          </a:p>
        </p:txBody>
      </p:sp>
      <p:sp>
        <p:nvSpPr>
          <p:cNvPr id="312" name="Google Shape;312;p52"/>
          <p:cNvSpPr txBox="1"/>
          <p:nvPr>
            <p:ph idx="1" type="body"/>
          </p:nvPr>
        </p:nvSpPr>
        <p:spPr>
          <a:xfrm>
            <a:off x="311700" y="961050"/>
            <a:ext cx="8520600" cy="1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Memory is broken apart into many pieces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Even if you have X amount of memory available, if it’s not contiguous, you can’t allocate it as a chunk of memory of size X.</a:t>
            </a:r>
            <a:endParaRPr/>
          </a:p>
        </p:txBody>
      </p:sp>
      <p:sp>
        <p:nvSpPr>
          <p:cNvPr id="313" name="Google Shape;313;p52"/>
          <p:cNvSpPr/>
          <p:nvPr/>
        </p:nvSpPr>
        <p:spPr>
          <a:xfrm>
            <a:off x="1152600" y="2488375"/>
            <a:ext cx="6886800" cy="4323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52"/>
          <p:cNvSpPr txBox="1"/>
          <p:nvPr/>
        </p:nvSpPr>
        <p:spPr>
          <a:xfrm>
            <a:off x="3421800" y="3079100"/>
            <a:ext cx="4179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52"/>
          <p:cNvSpPr/>
          <p:nvPr/>
        </p:nvSpPr>
        <p:spPr>
          <a:xfrm>
            <a:off x="1152600" y="3750150"/>
            <a:ext cx="6886800" cy="4323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52"/>
          <p:cNvSpPr/>
          <p:nvPr/>
        </p:nvSpPr>
        <p:spPr>
          <a:xfrm>
            <a:off x="1152600" y="2488375"/>
            <a:ext cx="821100" cy="432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52"/>
          <p:cNvSpPr/>
          <p:nvPr/>
        </p:nvSpPr>
        <p:spPr>
          <a:xfrm>
            <a:off x="2600700" y="2488375"/>
            <a:ext cx="324000" cy="432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52"/>
          <p:cNvSpPr/>
          <p:nvPr/>
        </p:nvSpPr>
        <p:spPr>
          <a:xfrm>
            <a:off x="4007550" y="2488375"/>
            <a:ext cx="156300" cy="432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52"/>
          <p:cNvSpPr/>
          <p:nvPr/>
        </p:nvSpPr>
        <p:spPr>
          <a:xfrm>
            <a:off x="7883100" y="2488375"/>
            <a:ext cx="156300" cy="432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52"/>
          <p:cNvSpPr/>
          <p:nvPr/>
        </p:nvSpPr>
        <p:spPr>
          <a:xfrm>
            <a:off x="4898575" y="2488375"/>
            <a:ext cx="1803300" cy="432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52"/>
          <p:cNvSpPr/>
          <p:nvPr/>
        </p:nvSpPr>
        <p:spPr>
          <a:xfrm>
            <a:off x="1152600" y="3750150"/>
            <a:ext cx="821100" cy="432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52"/>
          <p:cNvSpPr/>
          <p:nvPr/>
        </p:nvSpPr>
        <p:spPr>
          <a:xfrm>
            <a:off x="1973700" y="3750150"/>
            <a:ext cx="324000" cy="432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52"/>
          <p:cNvSpPr/>
          <p:nvPr/>
        </p:nvSpPr>
        <p:spPr>
          <a:xfrm>
            <a:off x="2297700" y="3750150"/>
            <a:ext cx="156300" cy="432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52"/>
          <p:cNvSpPr/>
          <p:nvPr/>
        </p:nvSpPr>
        <p:spPr>
          <a:xfrm>
            <a:off x="4257300" y="3750150"/>
            <a:ext cx="156300" cy="432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52"/>
          <p:cNvSpPr/>
          <p:nvPr/>
        </p:nvSpPr>
        <p:spPr>
          <a:xfrm>
            <a:off x="2454000" y="3750150"/>
            <a:ext cx="1803300" cy="432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3"/>
          <p:cNvSpPr txBox="1"/>
          <p:nvPr>
            <p:ph type="title"/>
          </p:nvPr>
        </p:nvSpPr>
        <p:spPr>
          <a:xfrm>
            <a:off x="76200" y="28575"/>
            <a:ext cx="8991600" cy="514500"/>
          </a:xfrm>
          <a:prstGeom prst="rect">
            <a:avLst/>
          </a:prstGeom>
        </p:spPr>
        <p:txBody>
          <a:bodyPr anchorCtr="0" anchor="ctr" bIns="34275" lIns="67500" spcFirstLastPara="1" rIns="67500" wrap="square" tIns="351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Types of Fragmentation</a:t>
            </a:r>
            <a:endParaRPr/>
          </a:p>
        </p:txBody>
      </p:sp>
      <p:sp>
        <p:nvSpPr>
          <p:cNvPr id="331" name="Google Shape;331;p53"/>
          <p:cNvSpPr txBox="1"/>
          <p:nvPr>
            <p:ph idx="1" type="body"/>
          </p:nvPr>
        </p:nvSpPr>
        <p:spPr>
          <a:xfrm>
            <a:off x="311700" y="885425"/>
            <a:ext cx="8520600" cy="27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CN"/>
              <a:t>External fragmentation: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Blocks are scattered across virtual memory, making remaining memory non-contiguous (previous slide)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zh-CN"/>
              <a:t>Internal fragmentation: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difference in how much memory the user requested and how much we actually allocated (i.e. due to headers)</a:t>
            </a:r>
            <a:endParaRPr/>
          </a:p>
        </p:txBody>
      </p:sp>
      <p:sp>
        <p:nvSpPr>
          <p:cNvPr id="332" name="Google Shape;332;p53"/>
          <p:cNvSpPr/>
          <p:nvPr/>
        </p:nvSpPr>
        <p:spPr>
          <a:xfrm>
            <a:off x="1152600" y="4093975"/>
            <a:ext cx="6886800" cy="432300"/>
          </a:xfrm>
          <a:prstGeom prst="rect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53"/>
          <p:cNvSpPr/>
          <p:nvPr/>
        </p:nvSpPr>
        <p:spPr>
          <a:xfrm>
            <a:off x="1152600" y="4093975"/>
            <a:ext cx="5057100" cy="4323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53"/>
          <p:cNvSpPr txBox="1"/>
          <p:nvPr/>
        </p:nvSpPr>
        <p:spPr>
          <a:xfrm>
            <a:off x="6613050" y="4086525"/>
            <a:ext cx="10230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unused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53"/>
          <p:cNvSpPr txBox="1"/>
          <p:nvPr/>
        </p:nvSpPr>
        <p:spPr>
          <a:xfrm>
            <a:off x="2539950" y="4086525"/>
            <a:ext cx="22824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requested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53"/>
          <p:cNvSpPr txBox="1"/>
          <p:nvPr/>
        </p:nvSpPr>
        <p:spPr>
          <a:xfrm>
            <a:off x="311700" y="4108375"/>
            <a:ext cx="8067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addr</a:t>
            </a:r>
            <a:endParaRPr b="0" i="0" sz="18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4"/>
          <p:cNvSpPr txBox="1"/>
          <p:nvPr>
            <p:ph type="title"/>
          </p:nvPr>
        </p:nvSpPr>
        <p:spPr>
          <a:xfrm>
            <a:off x="76200" y="28575"/>
            <a:ext cx="8991600" cy="514500"/>
          </a:xfrm>
          <a:prstGeom prst="rect">
            <a:avLst/>
          </a:prstGeom>
        </p:spPr>
        <p:txBody>
          <a:bodyPr anchorCtr="0" anchor="ctr" bIns="34275" lIns="67500" spcFirstLastPara="1" rIns="67500" wrap="square" tIns="351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Strategies for Mitigating Fragmentation</a:t>
            </a:r>
            <a:endParaRPr/>
          </a:p>
        </p:txBody>
      </p:sp>
      <p:sp>
        <p:nvSpPr>
          <p:cNvPr id="342" name="Google Shape;342;p54"/>
          <p:cNvSpPr txBox="1"/>
          <p:nvPr>
            <p:ph idx="1" type="body"/>
          </p:nvPr>
        </p:nvSpPr>
        <p:spPr>
          <a:xfrm>
            <a:off x="685800" y="981075"/>
            <a:ext cx="7767600" cy="2624400"/>
          </a:xfrm>
          <a:prstGeom prst="rect">
            <a:avLst/>
          </a:prstGeom>
        </p:spPr>
        <p:txBody>
          <a:bodyPr anchorCtr="0" anchor="t" bIns="35100" lIns="67500" spcFirstLastPara="1" rIns="67500" wrap="square" tIns="3510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Splitting : dividing a large free block into smaller pieces, depending on how much memory the user requested </a:t>
            </a:r>
            <a:br>
              <a:rPr lang="zh-CN"/>
            </a:br>
            <a:r>
              <a:rPr lang="zh-CN"/>
              <a:t>(allows you to “fill in” large gaps of free memory in your heap)</a:t>
            </a:r>
            <a:br>
              <a:rPr lang="zh-CN"/>
            </a:b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Coalescing : merging together adjacent free blocks into a single, large free block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5"/>
          <p:cNvSpPr txBox="1"/>
          <p:nvPr>
            <p:ph type="title"/>
          </p:nvPr>
        </p:nvSpPr>
        <p:spPr>
          <a:xfrm>
            <a:off x="363537" y="2857500"/>
            <a:ext cx="5751600" cy="1031100"/>
          </a:xfrm>
          <a:prstGeom prst="rect">
            <a:avLst/>
          </a:prstGeom>
        </p:spPr>
        <p:txBody>
          <a:bodyPr anchorCtr="0" anchor="t" bIns="34275" lIns="67500" spcFirstLastPara="1" rIns="67500" wrap="square" tIns="35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Coding time!</a:t>
            </a:r>
            <a:endParaRPr/>
          </a:p>
        </p:txBody>
      </p:sp>
      <p:sp>
        <p:nvSpPr>
          <p:cNvPr id="348" name="Google Shape;348;p55"/>
          <p:cNvSpPr txBox="1"/>
          <p:nvPr>
            <p:ph idx="12" type="sldNum"/>
          </p:nvPr>
        </p:nvSpPr>
        <p:spPr>
          <a:xfrm>
            <a:off x="7010400" y="4914901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6172_lectures">
  <a:themeElements>
    <a:clrScheme name="Custom 3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999999"/>
      </a:accent1>
      <a:accent2>
        <a:srgbClr val="006699"/>
      </a:accent2>
      <a:accent3>
        <a:srgbClr val="669900"/>
      </a:accent3>
      <a:accent4>
        <a:srgbClr val="FF993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