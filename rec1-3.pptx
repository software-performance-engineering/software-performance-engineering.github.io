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2E8412-91A6-4B5B-8EE3-D1A49FF151E7}">
  <a:tblStyle styleId="{722E8412-91A6-4B5B-8EE3-D1A49FF151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c2db17477_2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03" name="Google Shape;103;g37c2db17477_2_40:notes"/>
          <p:cNvSpPr/>
          <p:nvPr>
            <p:ph idx="2" type="sldImg"/>
          </p:nvPr>
        </p:nvSpPr>
        <p:spPr>
          <a:xfrm>
            <a:off x="379413" y="682625"/>
            <a:ext cx="6096000" cy="34305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g37c2db17477_2_40:notes"/>
          <p:cNvSpPr txBox="1"/>
          <p:nvPr>
            <p:ph idx="1" type="body"/>
          </p:nvPr>
        </p:nvSpPr>
        <p:spPr>
          <a:xfrm>
            <a:off x="686108" y="4344282"/>
            <a:ext cx="5482708" cy="4116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c2db17477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7c2db17477_2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c2db1747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c2db1747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c2db1747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c2db1747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Give them some time to work on their code, revise or keep going, ask me if you have question, make sure everyone’s on the same page before we move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about 20 minutes on this: start at around 9am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f4aa6472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f4aa6472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not only a review, but also some hint on the optimization we’ll talk </a:t>
            </a:r>
            <a:r>
              <a:rPr lang="zh-CN"/>
              <a:t>about</a:t>
            </a:r>
            <a:r>
              <a:rPr lang="zh-CN"/>
              <a:t> later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4aa64727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4aa64727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make sure the manipulation you’re doing and the data </a:t>
            </a:r>
            <a:r>
              <a:rPr lang="zh-CN"/>
              <a:t>type you’re using matches each other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f4aa64727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f4aa64727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answer is D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f4aa64727_0_7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7f4aa64727_0_7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f4aa64727_0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f4aa64727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f4aa64727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f4aa64727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if x = 1, x - 1 = 0, r = 0, r++ =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if x &gt; 1 or x = 0, x - 1 includes 1 bits, r = 1, r++ =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so r will only be 1 or 0, never &lt; 0, always &lt; 2 and &lt; 4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f4aa64727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f4aa64727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A. Never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B. Sometimes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C. True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D. Always pass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Checks if x == 1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X = 0: return 0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X = 1: return 1</a:t>
            </a:r>
            <a:endParaRPr>
              <a:solidFill>
                <a:schemeClr val="dk1"/>
              </a:solidFill>
            </a:endParaRPr>
          </a:p>
          <a:p>
            <a:pPr indent="-22860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X &gt;= 2 return 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c2db1747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c2db1747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ca5550f1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ca5550f1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ca5550f1b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ca5550f1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what do you think of this algorithm? better? worse? why?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faster, as we’re not doing by bits, but working with rows and columns, which is many bits at a time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ca5550f1b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ca5550f1b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ca5550f1b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ca5550f1b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endianess! most significant bit first!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ca5550f1b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ca5550f1b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f4aa64727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7f4aa64727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for column rotation, we need N^2 time using the naive approach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apparently this is quite slow, if the matrix goes very large, then the time cost goes super expensive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how can we do better? (hint: we just review bit hacks, we can use bit mask to </a:t>
            </a:r>
            <a:r>
              <a:rPr lang="zh-CN"/>
              <a:t>extract</a:t>
            </a:r>
            <a:r>
              <a:rPr lang="zh-CN"/>
              <a:t> part of the row/column)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f4aa64727_0_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7f4aa64727_0_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7f4aa64727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7f4aa64727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f4aa64727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f4aa64727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f4aa64727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7f4aa64727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f4aa64727_0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f4aa64727_0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f4aa64727_0_7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7f4aa64727_0_7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f4aa64727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7f4aa64727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7f4aa64727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7f4aa64727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f4aa64727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7f4aa64727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f4aa64727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7f4aa64727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remember, you can do rotate up or down as long as the index is handled carefully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there’re a lot of things you can optimize in the above example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How much work is this one?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f4aa64727_0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7f4aa64727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But sometimes the asymptotically best algorithms don’t perform well in practice.  You must decide for yourself.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ca5550f1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7ca5550f1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ca5550f1b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7ca5550f1b_0_2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showMasterSp="0" type="title">
  <p:cSld name="TITLE">
    <p:bg>
      <p:bgPr>
        <a:solidFill>
          <a:srgbClr val="FBF4E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1" y="1482723"/>
            <a:ext cx="9144001" cy="36607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-1" y="0"/>
            <a:ext cx="9144001" cy="148272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6C5DD"/>
              </a:gs>
            </a:gsLst>
            <a:lin ang="16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7F7F7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800100" y="2857500"/>
            <a:ext cx="5730301" cy="470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spAutoFit/>
          </a:bodyPr>
          <a:lstStyle>
            <a:lvl1pPr lv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800100" y="3756777"/>
            <a:ext cx="5730301" cy="361735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>
            <a:lvl1pPr lv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Lucida Sans"/>
              <a:buNone/>
              <a:defRPr/>
            </a:lvl1pPr>
            <a:lvl2pPr lvl="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∙"/>
              <a:defRPr/>
            </a:lvl2pPr>
            <a:lvl3pPr lvl="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🞐"/>
              <a:defRPr/>
            </a:lvl3pPr>
            <a:lvl4pPr lvl="3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◆"/>
              <a:defRPr/>
            </a:lvl4pPr>
            <a:lvl5pPr lvl="4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5pPr>
            <a:lvl6pPr lvl="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6pPr>
            <a:lvl7pPr lvl="6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7pPr>
            <a:lvl8pPr lvl="7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8pPr>
            <a:lvl9pPr lvl="8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381000" y="421622"/>
            <a:ext cx="5048250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Performance Engineering</a:t>
            </a:r>
            <a:endParaRPr sz="1100"/>
          </a:p>
        </p:txBody>
      </p:sp>
      <p:sp>
        <p:nvSpPr>
          <p:cNvPr id="62" name="Google Shape;62;p14"/>
          <p:cNvSpPr txBox="1"/>
          <p:nvPr/>
        </p:nvSpPr>
        <p:spPr>
          <a:xfrm>
            <a:off x="0" y="4937984"/>
            <a:ext cx="9144000" cy="209385"/>
          </a:xfrm>
          <a:prstGeom prst="rect">
            <a:avLst/>
          </a:prstGeom>
          <a:noFill/>
          <a:ln>
            <a:noFill/>
          </a:ln>
        </p:spPr>
        <p:txBody>
          <a:bodyPr anchorCtr="0" anchor="b" bIns="35100" lIns="67500" spcFirstLastPara="1" rIns="67500" wrap="square" tIns="35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900"/>
              <a:buFont typeface="Lucida Sans"/>
              <a:buNone/>
            </a:pPr>
            <a:r>
              <a:rPr b="0" i="0" lang="zh-CN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© 2008–2024 by the MIT 6.172 and 6.106 Lecturers</a:t>
            </a:r>
            <a:endParaRPr b="0" i="0" sz="900" u="none" cap="none" strike="noStrike">
              <a:solidFill>
                <a:srgbClr val="00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7010400" y="491490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64" name="Google Shape;64;p14"/>
          <p:cNvGrpSpPr/>
          <p:nvPr/>
        </p:nvGrpSpPr>
        <p:grpSpPr>
          <a:xfrm>
            <a:off x="6477000" y="527362"/>
            <a:ext cx="2019300" cy="3750329"/>
            <a:chOff x="6591300" y="562162"/>
            <a:chExt cx="2019300" cy="5000438"/>
          </a:xfrm>
        </p:grpSpPr>
        <p:grpSp>
          <p:nvGrpSpPr>
            <p:cNvPr id="65" name="Google Shape;65;p14"/>
            <p:cNvGrpSpPr/>
            <p:nvPr/>
          </p:nvGrpSpPr>
          <p:grpSpPr>
            <a:xfrm>
              <a:off x="6591300" y="562162"/>
              <a:ext cx="2019300" cy="5000438"/>
              <a:chOff x="6591300" y="562162"/>
              <a:chExt cx="2019300" cy="5000438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7515023" y="3048000"/>
                <a:ext cx="157702" cy="2514600"/>
              </a:xfrm>
              <a:prstGeom prst="rect">
                <a:avLst/>
              </a:prstGeom>
              <a:gradFill>
                <a:gsLst>
                  <a:gs pos="0">
                    <a:srgbClr val="7F7F7F"/>
                  </a:gs>
                  <a:gs pos="50000">
                    <a:schemeClr val="dk1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FFFFFF"/>
                  </a:solidFill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  <p:pic>
            <p:nvPicPr>
              <p:cNvPr id="67" name="Google Shape;67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873250" y="1628159"/>
                <a:ext cx="1455400" cy="21651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" name="Google Shape;68;p14"/>
              <p:cNvSpPr/>
              <p:nvPr/>
            </p:nvSpPr>
            <p:spPr>
              <a:xfrm>
                <a:off x="6591300" y="562162"/>
                <a:ext cx="2019300" cy="2853711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BFBFBF"/>
                  </a:gs>
                  <a:gs pos="50000">
                    <a:srgbClr val="F2F2F2"/>
                  </a:gs>
                  <a:gs pos="100000">
                    <a:srgbClr val="F2F2F2"/>
                  </a:gs>
                </a:gsLst>
                <a:lin ang="10800000" scaled="0"/>
              </a:gradFill>
              <a:ln cap="flat" cmpd="sng" w="76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SPEED</a:t>
                </a:r>
                <a:b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LIMIT</a:t>
                </a:r>
                <a:endParaRPr sz="1100"/>
              </a:p>
            </p:txBody>
          </p:sp>
        </p:grpSp>
        <p:sp>
          <p:nvSpPr>
            <p:cNvPr id="69" name="Google Shape;69;p14"/>
            <p:cNvSpPr txBox="1"/>
            <p:nvPr/>
          </p:nvSpPr>
          <p:spPr>
            <a:xfrm>
              <a:off x="6913528" y="1179728"/>
              <a:ext cx="1374844" cy="2646878"/>
            </a:xfrm>
            <a:prstGeom prst="rect">
              <a:avLst/>
            </a:prstGeom>
            <a:noFill/>
            <a:ln>
              <a:noFill/>
            </a:ln>
            <a:effectLst>
              <a:outerShdw blurRad="76200" sx="57000" kx="-1200000" rotWithShape="0" algn="bl" dir="20880000" dist="1066800" sy="57000">
                <a:srgbClr val="000000">
                  <a:alpha val="20000"/>
                </a:srgbClr>
              </a:outerShdw>
            </a:effectLst>
          </p:spPr>
          <p:txBody>
            <a:bodyPr anchorCtr="1" anchor="ctr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CN" sz="12500" u="none" cap="none" strike="noStrike">
                  <a:solidFill>
                    <a:srgbClr val="000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∞</a:t>
              </a:r>
              <a:endParaRPr b="0" i="0" sz="225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70" name="Google Shape;70;p14"/>
          <p:cNvSpPr/>
          <p:nvPr/>
        </p:nvSpPr>
        <p:spPr>
          <a:xfrm rot="-5400000">
            <a:off x="7238811" y="3814706"/>
            <a:ext cx="514351" cy="657336"/>
          </a:xfrm>
          <a:prstGeom prst="moon">
            <a:avLst>
              <a:gd fmla="val 50000" name="adj"/>
            </a:avLst>
          </a:prstGeom>
          <a:solidFill>
            <a:srgbClr val="FBF4E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477887" y="2391742"/>
            <a:ext cx="2017528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ORDER OF SPE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BF4E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1" y="1482723"/>
            <a:ext cx="9144001" cy="366077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type="title"/>
          </p:nvPr>
        </p:nvSpPr>
        <p:spPr>
          <a:xfrm>
            <a:off x="363537" y="2857500"/>
            <a:ext cx="5751513" cy="10311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5100">
            <a:no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small"/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/>
        </p:nvSpPr>
        <p:spPr>
          <a:xfrm>
            <a:off x="0" y="4937984"/>
            <a:ext cx="9144000" cy="209385"/>
          </a:xfrm>
          <a:prstGeom prst="rect">
            <a:avLst/>
          </a:prstGeom>
          <a:noFill/>
          <a:ln>
            <a:noFill/>
          </a:ln>
        </p:spPr>
        <p:txBody>
          <a:bodyPr anchorCtr="0" anchor="b" bIns="35100" lIns="67500" spcFirstLastPara="1" rIns="67500" wrap="square" tIns="35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900"/>
              <a:buFont typeface="Lucida Sans"/>
              <a:buNone/>
            </a:pPr>
            <a:r>
              <a:rPr b="0" i="0" lang="zh-CN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© 2008–2024 by the MIT 6.172 and 6.106 Lecturers</a:t>
            </a:r>
            <a:endParaRPr b="0" i="0" sz="900" u="none" cap="none" strike="noStrike">
              <a:solidFill>
                <a:srgbClr val="00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-1" y="0"/>
            <a:ext cx="9144001" cy="1482722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6C5DD"/>
              </a:gs>
            </a:gsLst>
            <a:lin ang="1620000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7F7F7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7010400" y="491490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78" name="Google Shape;78;p15"/>
          <p:cNvGrpSpPr/>
          <p:nvPr/>
        </p:nvGrpSpPr>
        <p:grpSpPr>
          <a:xfrm>
            <a:off x="6477000" y="527362"/>
            <a:ext cx="2019300" cy="3750329"/>
            <a:chOff x="6591300" y="562162"/>
            <a:chExt cx="2019300" cy="5000438"/>
          </a:xfrm>
        </p:grpSpPr>
        <p:grpSp>
          <p:nvGrpSpPr>
            <p:cNvPr id="79" name="Google Shape;79;p15"/>
            <p:cNvGrpSpPr/>
            <p:nvPr/>
          </p:nvGrpSpPr>
          <p:grpSpPr>
            <a:xfrm>
              <a:off x="6591300" y="562162"/>
              <a:ext cx="2019300" cy="5000438"/>
              <a:chOff x="6591300" y="562162"/>
              <a:chExt cx="2019300" cy="5000438"/>
            </a:xfrm>
          </p:grpSpPr>
          <p:sp>
            <p:nvSpPr>
              <p:cNvPr id="80" name="Google Shape;80;p15"/>
              <p:cNvSpPr/>
              <p:nvPr/>
            </p:nvSpPr>
            <p:spPr>
              <a:xfrm>
                <a:off x="7515023" y="3048000"/>
                <a:ext cx="157702" cy="2514600"/>
              </a:xfrm>
              <a:prstGeom prst="rect">
                <a:avLst/>
              </a:prstGeom>
              <a:gradFill>
                <a:gsLst>
                  <a:gs pos="0">
                    <a:srgbClr val="7F7F7F"/>
                  </a:gs>
                  <a:gs pos="50000">
                    <a:schemeClr val="dk1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FFFFFF"/>
                  </a:solidFill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  <p:pic>
            <p:nvPicPr>
              <p:cNvPr id="81" name="Google Shape;81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873250" y="1628159"/>
                <a:ext cx="1455400" cy="21651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" name="Google Shape;82;p15"/>
              <p:cNvSpPr/>
              <p:nvPr/>
            </p:nvSpPr>
            <p:spPr>
              <a:xfrm>
                <a:off x="6591300" y="562162"/>
                <a:ext cx="2019300" cy="2853711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BFBFBF"/>
                  </a:gs>
                  <a:gs pos="50000">
                    <a:srgbClr val="F2F2F2"/>
                  </a:gs>
                  <a:gs pos="100000">
                    <a:srgbClr val="F2F2F2"/>
                  </a:gs>
                </a:gsLst>
                <a:lin ang="10800000" scaled="0"/>
              </a:gradFill>
              <a:ln cap="flat" cmpd="sng" w="76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SPEED</a:t>
                </a:r>
                <a:b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LIMIT</a:t>
                </a:r>
                <a:endParaRPr sz="1100"/>
              </a:p>
            </p:txBody>
          </p:sp>
        </p:grpSp>
        <p:sp>
          <p:nvSpPr>
            <p:cNvPr id="83" name="Google Shape;83;p15"/>
            <p:cNvSpPr txBox="1"/>
            <p:nvPr/>
          </p:nvSpPr>
          <p:spPr>
            <a:xfrm>
              <a:off x="6913528" y="1179728"/>
              <a:ext cx="1374844" cy="2646878"/>
            </a:xfrm>
            <a:prstGeom prst="rect">
              <a:avLst/>
            </a:prstGeom>
            <a:noFill/>
            <a:ln>
              <a:noFill/>
            </a:ln>
            <a:effectLst>
              <a:outerShdw blurRad="76200" sx="57000" kx="-1200000" rotWithShape="0" algn="bl" dir="20880000" dist="1066800" sy="57000">
                <a:srgbClr val="000000">
                  <a:alpha val="20000"/>
                </a:srgbClr>
              </a:outerShdw>
            </a:effectLst>
          </p:spPr>
          <p:txBody>
            <a:bodyPr anchorCtr="1" anchor="ctr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CN" sz="12500" u="none" cap="none" strike="noStrike">
                  <a:solidFill>
                    <a:srgbClr val="000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∞</a:t>
              </a:r>
              <a:endParaRPr b="0" i="0" sz="225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84" name="Google Shape;84;p15"/>
          <p:cNvSpPr/>
          <p:nvPr/>
        </p:nvSpPr>
        <p:spPr>
          <a:xfrm rot="-5400000">
            <a:off x="7238811" y="3562160"/>
            <a:ext cx="514351" cy="1162428"/>
          </a:xfrm>
          <a:prstGeom prst="moon">
            <a:avLst>
              <a:gd fmla="val 50000" name="adj"/>
            </a:avLst>
          </a:prstGeom>
          <a:solidFill>
            <a:srgbClr val="FBF4E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6477887" y="2391742"/>
            <a:ext cx="2017528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ORDER OF SPE</a:t>
            </a:r>
            <a:endParaRPr sz="1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no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7010400" y="491490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685800" y="981075"/>
            <a:ext cx="7767638" cy="151128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>
            <a:lvl1pPr indent="-3111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●"/>
              <a:defRPr b="0"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Char char="🞐"/>
              <a:defRPr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Noto Sans Symbols"/>
              <a:buChar char="◆"/>
              <a:defRPr/>
            </a:lvl3pPr>
            <a:lvl4pPr indent="-3048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ucida Sans"/>
              <a:buChar char="○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47965" y="52201"/>
            <a:ext cx="8248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7010400" y="491490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b="0" i="0" sz="1200" u="none" cap="none" strike="noStrike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447965" y="52201"/>
            <a:ext cx="8248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688181" y="685800"/>
            <a:ext cx="7767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∙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🞐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◆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7010400" y="491490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b="0" i="0" sz="1200" u="none" cap="none" strike="noStrike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noAutofit/>
          </a:bodyPr>
          <a:lstStyle>
            <a:lvl1pPr lvl="0" marR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0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88181" y="685801"/>
            <a:ext cx="7767638" cy="151128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>
            <a:lvl1pPr indent="-3111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9933"/>
              </a:buClr>
              <a:buSzPts val="1800"/>
              <a:buFont typeface="Lucida Sans"/>
              <a:buChar char="∙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9933"/>
              </a:buClr>
              <a:buSzPts val="1100"/>
              <a:buFont typeface="Noto Sans Symbols"/>
              <a:buChar char="🞐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9933"/>
              </a:buClr>
              <a:buSzPts val="1400"/>
              <a:buFont typeface="Lucida Sans"/>
              <a:buChar char="◆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669933"/>
              </a:buClr>
              <a:buSzPts val="1500"/>
              <a:buFont typeface="Lucida Sans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93D0"/>
              </a:buClr>
              <a:buSzPts val="1500"/>
              <a:buFont typeface="Lucida Sans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93D0"/>
              </a:buClr>
              <a:buSzPts val="1400"/>
              <a:buFont typeface="Lucida Sans"/>
              <a:buChar char="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93D0"/>
              </a:buClr>
              <a:buSzPts val="1400"/>
              <a:buFont typeface="Lucida Sans"/>
              <a:buChar char="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93D0"/>
              </a:buClr>
              <a:buSzPts val="1400"/>
              <a:buFont typeface="Lucida Sans"/>
              <a:buChar char="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/>
        </p:nvSpPr>
        <p:spPr>
          <a:xfrm>
            <a:off x="0" y="4937984"/>
            <a:ext cx="3657600" cy="209385"/>
          </a:xfrm>
          <a:prstGeom prst="rect">
            <a:avLst/>
          </a:prstGeom>
          <a:noFill/>
          <a:ln>
            <a:noFill/>
          </a:ln>
        </p:spPr>
        <p:txBody>
          <a:bodyPr anchorCtr="0" anchor="b" bIns="35100" lIns="67500" spcFirstLastPara="1" rIns="67500" wrap="square" tIns="35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900"/>
              <a:buFont typeface="Lucida Sans"/>
              <a:buNone/>
            </a:pPr>
            <a:r>
              <a:rPr b="0" i="0" lang="zh-CN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© 2008–2024 by the MIT 6.172 and 6.106 Lecturers</a:t>
            </a:r>
            <a:endParaRPr b="0" i="0" sz="900" u="none" cap="none" strike="noStrike">
              <a:solidFill>
                <a:srgbClr val="00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7010400" y="491490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Relationship Id="rId4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cs.google.com/spreadsheets/d/1rZNr-KfwsVrZl2BJrEe339wHae73p2kFilpW8ykUQig/edit?usp=sharing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ctrTitle"/>
          </p:nvPr>
        </p:nvSpPr>
        <p:spPr>
          <a:xfrm>
            <a:off x="800100" y="2857500"/>
            <a:ext cx="57303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spAutoFit/>
          </a:bodyPr>
          <a:lstStyle/>
          <a:p>
            <a:pPr indent="0" lvl="0" marL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Recitation 1.3</a:t>
            </a:r>
            <a:endParaRPr/>
          </a:p>
        </p:txBody>
      </p:sp>
      <p:sp>
        <p:nvSpPr>
          <p:cNvPr id="107" name="Google Shape;107;p19"/>
          <p:cNvSpPr txBox="1"/>
          <p:nvPr>
            <p:ph idx="1" type="subTitle"/>
          </p:nvPr>
        </p:nvSpPr>
        <p:spPr>
          <a:xfrm>
            <a:off x="800100" y="3756777"/>
            <a:ext cx="57303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ucida Sans"/>
              <a:buNone/>
            </a:pPr>
            <a:r>
              <a:rPr lang="zh-CN"/>
              <a:t>Atharva Kirkole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ucida Sans"/>
              <a:buNone/>
            </a:pPr>
            <a:r>
              <a:rPr lang="zh-CN"/>
              <a:t>Thursday, Sep 17,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Attendance!</a:t>
            </a:r>
            <a:endParaRPr/>
          </a:p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7010400" y="491490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843750" y="4188513"/>
            <a:ext cx="7456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>
                <a:solidFill>
                  <a:srgbClr val="000000"/>
                </a:solidFill>
              </a:rPr>
              <a:t>Attendance for recitations is </a:t>
            </a:r>
            <a:r>
              <a:rPr b="1" lang="zh-CN" sz="2100">
                <a:solidFill>
                  <a:srgbClr val="000000"/>
                </a:solidFill>
              </a:rPr>
              <a:t>mandatory</a:t>
            </a:r>
            <a:r>
              <a:rPr lang="zh-CN" sz="2100">
                <a:solidFill>
                  <a:srgbClr val="000000"/>
                </a:solidFill>
              </a:rPr>
              <a:t>!</a:t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115" name="Google Shape;115;p20" title="A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4425" y="837850"/>
            <a:ext cx="3312214" cy="3312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-61675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Important!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685800" y="981075"/>
            <a:ext cx="7767600" cy="33168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HW2 Checkoff was due 2 days ago.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Homework 2 is due 21st September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/>
              <a:t>Apologies….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/>
              <a:t>We figured out the problem and confusions will not repeat…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Project 1 beta: September 24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Project 1 final: October 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Coding warm up &amp; QA time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Bit hacks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Tips for Bit Manipulation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685800" y="981075"/>
            <a:ext cx="7767600" cy="30564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Use the appropriate literals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🞐"/>
            </a:pPr>
            <a:r>
              <a:rPr lang="zh-CN"/>
              <a:t>A plain 1 is a 32-bit integer. 1 &lt;&lt; 63 can give unexpected results.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🞐"/>
            </a:pPr>
            <a:r>
              <a:rPr lang="zh-CN"/>
              <a:t>1ULL means 1 unsigned long long which is uint64_t</a:t>
            </a:r>
            <a:endParaRPr/>
          </a:p>
          <a:p>
            <a:pPr indent="-2857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◆"/>
            </a:pPr>
            <a:r>
              <a:rPr lang="zh-CN"/>
              <a:t>00000000 00000000 00000000 00000000</a:t>
            </a:r>
            <a:endParaRPr/>
          </a:p>
          <a:p>
            <a:pPr indent="-2857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◆"/>
            </a:pPr>
            <a:r>
              <a:rPr lang="zh-CN"/>
              <a:t>00000000 00000000 00000000 00000001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Never shift by more than the number of bits in the number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🞐"/>
            </a:pPr>
            <a:r>
              <a:rPr lang="zh-CN"/>
              <a:t>((uint64_t) i) &gt;&gt; 64 is undefined behavior (UB)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Never shift by a negative amount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🞐"/>
            </a:pPr>
            <a:r>
              <a:rPr lang="zh-CN"/>
              <a:t>Also UB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Practice Question</a:t>
            </a:r>
            <a:endParaRPr/>
          </a:p>
        </p:txBody>
      </p:sp>
      <p:sp>
        <p:nvSpPr>
          <p:cNvPr id="143" name="Google Shape;143;p25"/>
          <p:cNvSpPr/>
          <p:nvPr/>
        </p:nvSpPr>
        <p:spPr>
          <a:xfrm>
            <a:off x="444473" y="1063053"/>
            <a:ext cx="5603700" cy="301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6157562" y="955036"/>
            <a:ext cx="2512800" cy="14595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Why?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602575" y="981075"/>
            <a:ext cx="8027100" cy="33681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We know x -1 will find the first set bit on x, when scanning from the least significant bit and invert all bits till the found bit. 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CN"/>
              <a:t>Ex: 1100</a:t>
            </a:r>
            <a:r>
              <a:rPr b="1" lang="zh-CN"/>
              <a:t>1000</a:t>
            </a:r>
            <a:r>
              <a:rPr lang="zh-CN"/>
              <a:t> – 1 = 1100</a:t>
            </a:r>
            <a:r>
              <a:rPr b="1" lang="zh-CN"/>
              <a:t>0111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Now, let the number be  x= abcd100…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x – 1 = abcd011….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x &amp; x -1 = abcd000…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The above number will be 0 if abcd are all 0.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Which means x must be of the form 00..010… (only 1 set bit)</a:t>
            </a:r>
            <a:endParaRPr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Which represents all and only powers of 2 or 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Practice Question</a:t>
            </a:r>
            <a:endParaRPr/>
          </a:p>
        </p:txBody>
      </p:sp>
      <p:grpSp>
        <p:nvGrpSpPr>
          <p:cNvPr id="156" name="Google Shape;156;p27"/>
          <p:cNvGrpSpPr/>
          <p:nvPr/>
        </p:nvGrpSpPr>
        <p:grpSpPr>
          <a:xfrm>
            <a:off x="548550" y="827239"/>
            <a:ext cx="8298224" cy="3718257"/>
            <a:chOff x="2592977" y="375240"/>
            <a:chExt cx="8366832" cy="4266013"/>
          </a:xfrm>
        </p:grpSpPr>
        <p:sp>
          <p:nvSpPr>
            <p:cNvPr id="157" name="Google Shape;157;p27"/>
            <p:cNvSpPr/>
            <p:nvPr/>
          </p:nvSpPr>
          <p:spPr>
            <a:xfrm>
              <a:off x="2592977" y="375252"/>
              <a:ext cx="5706900" cy="4266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8447009" y="375240"/>
              <a:ext cx="2512800" cy="14595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Practice Question</a:t>
            </a:r>
            <a:endParaRPr/>
          </a:p>
        </p:txBody>
      </p:sp>
      <p:grpSp>
        <p:nvGrpSpPr>
          <p:cNvPr id="164" name="Google Shape;164;p28"/>
          <p:cNvGrpSpPr/>
          <p:nvPr/>
        </p:nvGrpSpPr>
        <p:grpSpPr>
          <a:xfrm>
            <a:off x="548625" y="980939"/>
            <a:ext cx="8294378" cy="3718257"/>
            <a:chOff x="2592977" y="375240"/>
            <a:chExt cx="8362954" cy="4266013"/>
          </a:xfrm>
        </p:grpSpPr>
        <p:sp>
          <p:nvSpPr>
            <p:cNvPr id="165" name="Google Shape;165;p28"/>
            <p:cNvSpPr/>
            <p:nvPr/>
          </p:nvSpPr>
          <p:spPr>
            <a:xfrm>
              <a:off x="2592977" y="375252"/>
              <a:ext cx="5706900" cy="4266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8443131" y="375240"/>
              <a:ext cx="2512800" cy="14595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" name="Google Shape;167;p28"/>
          <p:cNvSpPr txBox="1"/>
          <p:nvPr/>
        </p:nvSpPr>
        <p:spPr>
          <a:xfrm>
            <a:off x="3071000" y="2061950"/>
            <a:ext cx="5772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Trace: Take x = 2 =&gt; r =1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100…01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11100….01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111111…001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1111….1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r++ will result in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easily see that if any bit in x-1 is 1, then the final r </a:t>
            </a:r>
            <a:r>
              <a:rPr lang="zh-CN"/>
              <a:t>will be </a:t>
            </a: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Otherwise, the final r is 1.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So, it tests if x-1 is 0, that is if x is 1.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Practice Question</a:t>
            </a:r>
            <a:endParaRPr/>
          </a:p>
        </p:txBody>
      </p:sp>
      <p:grpSp>
        <p:nvGrpSpPr>
          <p:cNvPr id="173" name="Google Shape;173;p29"/>
          <p:cNvGrpSpPr/>
          <p:nvPr/>
        </p:nvGrpSpPr>
        <p:grpSpPr>
          <a:xfrm>
            <a:off x="548550" y="913589"/>
            <a:ext cx="8294378" cy="3718257"/>
            <a:chOff x="2592977" y="375240"/>
            <a:chExt cx="8362954" cy="4266013"/>
          </a:xfrm>
        </p:grpSpPr>
        <p:sp>
          <p:nvSpPr>
            <p:cNvPr id="174" name="Google Shape;174;p29"/>
            <p:cNvSpPr/>
            <p:nvPr/>
          </p:nvSpPr>
          <p:spPr>
            <a:xfrm>
              <a:off x="2592977" y="375252"/>
              <a:ext cx="5706900" cy="4266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9"/>
            <p:cNvSpPr/>
            <p:nvPr/>
          </p:nvSpPr>
          <p:spPr>
            <a:xfrm>
              <a:off x="8443131" y="375240"/>
              <a:ext cx="2512800" cy="14595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29"/>
          <p:cNvSpPr txBox="1"/>
          <p:nvPr/>
        </p:nvSpPr>
        <p:spPr>
          <a:xfrm>
            <a:off x="3071000" y="2061950"/>
            <a:ext cx="5772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Trace: Take x = 2 =&gt; r =1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100…01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11100….01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111111…001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= 1111….1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r++ will result in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can easily see that if any bit in x-1 is 1, then r is 0.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Otherwise, r is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So, it tests if x-1 is 0, that is if x is 1. </a:t>
            </a:r>
            <a:endParaRPr/>
          </a:p>
        </p:txBody>
      </p:sp>
      <p:sp>
        <p:nvSpPr>
          <p:cNvPr id="177" name="Google Shape;177;p29"/>
          <p:cNvSpPr txBox="1"/>
          <p:nvPr/>
        </p:nvSpPr>
        <p:spPr>
          <a:xfrm>
            <a:off x="6783645" y="2864157"/>
            <a:ext cx="1544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– Never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 – Sometimes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– True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- True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Project 1: continue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Row-column-row algorithm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685800" y="981075"/>
            <a:ext cx="7767600" cy="17286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An algorithm for rotating block of bits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Basic idea: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🞐"/>
            </a:pPr>
            <a:r>
              <a:rPr lang="zh-CN"/>
              <a:t>rotate row r left by r + 1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🞐"/>
            </a:pPr>
            <a:r>
              <a:rPr lang="zh-CN"/>
              <a:t>rotate column c down by c + 1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🞐"/>
            </a:pPr>
            <a:r>
              <a:rPr lang="zh-CN"/>
              <a:t>rotate row r left by 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Row-column-row algorithm</a:t>
            </a:r>
            <a:endParaRPr/>
          </a:p>
        </p:txBody>
      </p:sp>
      <p:graphicFrame>
        <p:nvGraphicFramePr>
          <p:cNvPr id="194" name="Google Shape;194;p32"/>
          <p:cNvGraphicFramePr/>
          <p:nvPr/>
        </p:nvGraphicFramePr>
        <p:xfrm>
          <a:off x="5234177" y="22646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419100"/>
                <a:gridCol w="641350"/>
                <a:gridCol w="641350"/>
                <a:gridCol w="641350"/>
                <a:gridCol w="641350"/>
              </a:tblGrid>
              <a:tr h="39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8130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463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09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65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09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14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65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8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12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09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7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65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685800" y="981075"/>
            <a:ext cx="7767600" cy="17286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An algorithm for rotating block of bits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Basic idea: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🞐"/>
            </a:pPr>
            <a:r>
              <a:rPr lang="zh-CN"/>
              <a:t>rotate row r left by r + 1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🞐"/>
            </a:pPr>
            <a:r>
              <a:rPr lang="zh-CN"/>
              <a:t>rotate column c down by c + 1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🞐"/>
            </a:pPr>
            <a:r>
              <a:rPr lang="zh-CN"/>
              <a:t>rotate row r left by r</a:t>
            </a:r>
            <a:endParaRPr/>
          </a:p>
        </p:txBody>
      </p:sp>
      <p:graphicFrame>
        <p:nvGraphicFramePr>
          <p:cNvPr id="196" name="Google Shape;196;p32"/>
          <p:cNvGraphicFramePr/>
          <p:nvPr/>
        </p:nvGraphicFramePr>
        <p:xfrm>
          <a:off x="1573239" y="28754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372025"/>
                <a:gridCol w="569300"/>
                <a:gridCol w="569300"/>
                <a:gridCol w="569300"/>
                <a:gridCol w="569300"/>
              </a:tblGrid>
              <a:tr h="32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8130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889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533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65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533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565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882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711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1275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387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7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609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7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How to implement row rotation?</a:t>
            </a:r>
            <a:endParaRPr/>
          </a:p>
        </p:txBody>
      </p:sp>
      <p:sp>
        <p:nvSpPr>
          <p:cNvPr id="202" name="Google Shape;202;p33"/>
          <p:cNvSpPr/>
          <p:nvPr/>
        </p:nvSpPr>
        <p:spPr>
          <a:xfrm>
            <a:off x="2178745" y="1344792"/>
            <a:ext cx="4781700" cy="2777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How to implement column rotation?</a:t>
            </a:r>
            <a:endParaRPr/>
          </a:p>
        </p:txBody>
      </p:sp>
      <p:pic>
        <p:nvPicPr>
          <p:cNvPr id="208" name="Google Shape;20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7149" y="1610285"/>
            <a:ext cx="5781679" cy="207116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4"/>
          <p:cNvSpPr txBox="1"/>
          <p:nvPr/>
        </p:nvSpPr>
        <p:spPr>
          <a:xfrm>
            <a:off x="989400" y="785175"/>
            <a:ext cx="71652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375" lIns="76750" spcFirstLastPara="1" rIns="76750" wrap="square" tIns="38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b="0" i="0" lang="zh-CN" sz="2015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Input: </a:t>
            </a:r>
            <a:r>
              <a:rPr b="0" i="0" lang="zh-CN" sz="2015" u="none" cap="none" strike="noStrike">
                <a:solidFill>
                  <a:srgbClr val="800000"/>
                </a:solidFill>
                <a:latin typeface="Lucida Sans"/>
                <a:ea typeface="Lucida Sans"/>
                <a:cs typeface="Lucida Sans"/>
                <a:sym typeface="Lucida Sans"/>
              </a:rPr>
              <a:t>N × N</a:t>
            </a:r>
            <a:r>
              <a:rPr b="0" i="0" lang="zh-CN" sz="2015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matrix of bits, stored in row-major order.</a:t>
            </a:r>
            <a:endParaRPr b="0" i="0" sz="2015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b="0" i="0" lang="zh-CN" sz="2015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Goal:  Circularly rotate </a:t>
            </a:r>
            <a:r>
              <a:rPr b="0" i="0" lang="zh-CN" sz="2015" u="none" cap="none" strike="noStrike">
                <a:solidFill>
                  <a:srgbClr val="800000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b="0" i="0" lang="zh-CN" sz="2015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th column of bits up </a:t>
            </a:r>
            <a:r>
              <a:rPr b="0" i="0" lang="zh-CN" sz="2015" u="none" cap="none" strike="noStrike">
                <a:solidFill>
                  <a:srgbClr val="800000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b="0" i="0" lang="zh-CN" sz="2015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rows.</a:t>
            </a:r>
            <a:endParaRPr b="0" i="0" sz="2015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5"/>
              <a:buFont typeface="Arial"/>
              <a:buNone/>
            </a:pPr>
            <a:r>
              <a:t/>
            </a:r>
            <a:endParaRPr b="0" i="0" sz="2015" u="none" cap="none" strike="noStrike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10" name="Google Shape;210;p34"/>
          <p:cNvSpPr txBox="1"/>
          <p:nvPr/>
        </p:nvSpPr>
        <p:spPr>
          <a:xfrm>
            <a:off x="989400" y="3807867"/>
            <a:ext cx="71652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375" lIns="76750" spcFirstLastPara="1" rIns="76750" wrap="square" tIns="38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5"/>
              <a:buFont typeface="Arial"/>
              <a:buNone/>
            </a:pPr>
            <a:r>
              <a:rPr b="0" i="0" lang="zh-CN" sz="2015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In the example that follows, we have </a:t>
            </a:r>
            <a:r>
              <a:rPr b="0" i="0" lang="zh-CN" sz="2015" u="none" cap="none" strike="noStrike">
                <a:solidFill>
                  <a:srgbClr val="800000"/>
                </a:solidFill>
                <a:latin typeface="Lucida Sans"/>
                <a:ea typeface="Lucida Sans"/>
                <a:cs typeface="Lucida Sans"/>
                <a:sym typeface="Lucida Sans"/>
              </a:rPr>
              <a:t>N = 32</a:t>
            </a:r>
            <a:r>
              <a:rPr b="0" i="0" lang="zh-CN" sz="2015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.  Each row is stored in a </a:t>
            </a:r>
            <a:r>
              <a:rPr b="0" i="0" lang="zh-CN" sz="2015" u="none" cap="none" strike="noStrike">
                <a:solidFill>
                  <a:srgbClr val="800000"/>
                </a:solidFill>
                <a:latin typeface="Lucida Sans"/>
                <a:ea typeface="Lucida Sans"/>
                <a:cs typeface="Lucida Sans"/>
                <a:sym typeface="Lucida Sans"/>
              </a:rPr>
              <a:t>32</a:t>
            </a:r>
            <a:r>
              <a:rPr b="0" i="0" lang="zh-CN" sz="2015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-bit word, with column </a:t>
            </a:r>
            <a:r>
              <a:rPr b="0" i="0" lang="zh-CN" sz="2015" u="none" cap="none" strike="noStrike">
                <a:solidFill>
                  <a:srgbClr val="800000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b="0" i="0" lang="zh-CN" sz="2015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rPr>
              <a:t> in the most-significant bit.</a:t>
            </a:r>
            <a:endParaRPr b="0" i="0" sz="11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Naive approach</a:t>
            </a:r>
            <a:endParaRPr/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685800" y="645795"/>
            <a:ext cx="7767600" cy="42270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mask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(N-1)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6893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[N]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N;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// gather bits in column i 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6893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O;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N;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j++)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(((A[j] &lt;&lt; i) &amp; mask) &gt;&gt; j);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// rotate bits in column i</a:t>
            </a:r>
            <a:endParaRPr sz="1800">
              <a:solidFill>
                <a:srgbClr val="8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col = (col &lt;&lt; i) | (col &gt;&gt; (N - i));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// put column i back</a:t>
            </a:r>
            <a:endParaRPr sz="1800">
              <a:solidFill>
                <a:srgbClr val="8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j &lt; N; j++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A[j] = (A[j] &amp; ~(mask &gt;&gt; i)) |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        (((col &lt;&lt; j) &gt;&gt; i) &amp; (mask &gt;&gt; i));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Naive approach</a:t>
            </a:r>
            <a:endParaRPr/>
          </a:p>
        </p:txBody>
      </p:sp>
      <p:sp>
        <p:nvSpPr>
          <p:cNvPr id="222" name="Google Shape;222;p36"/>
          <p:cNvSpPr txBox="1"/>
          <p:nvPr>
            <p:ph idx="1" type="body"/>
          </p:nvPr>
        </p:nvSpPr>
        <p:spPr>
          <a:xfrm>
            <a:off x="685800" y="645795"/>
            <a:ext cx="7767600" cy="42270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mask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(N-1)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6893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[N]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N;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++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// gather bits in column i 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6893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O;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N;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j++)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col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(((A[j] &lt;&lt; i) &amp; mask) &gt;&gt; j);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// rotate bits in column i</a:t>
            </a:r>
            <a:endParaRPr sz="1800">
              <a:solidFill>
                <a:srgbClr val="8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col = (col &lt;&lt; i) | (col &gt;&gt; (N - i));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800000"/>
                </a:solidFill>
                <a:latin typeface="Consolas"/>
                <a:ea typeface="Consolas"/>
                <a:cs typeface="Consolas"/>
                <a:sym typeface="Consolas"/>
              </a:rPr>
              <a:t>// put column i back</a:t>
            </a:r>
            <a:endParaRPr sz="1800">
              <a:solidFill>
                <a:srgbClr val="8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j &lt; N; j++</a:t>
            </a:r>
            <a:r>
              <a:rPr lang="zh-CN" sz="1800">
                <a:solidFill>
                  <a:srgbClr val="40404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>
              <a:solidFill>
                <a:srgbClr val="40404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A[j] = (A[j] &amp; ~(mask &gt;&gt; i)) |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        (((col &lt;&lt; j) &gt;&gt; i) &amp; (mask &gt;&gt; i));</a:t>
            </a:r>
            <a:endParaRPr sz="1800">
              <a:solidFill>
                <a:srgbClr val="63261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32618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pic>
        <p:nvPicPr>
          <p:cNvPr id="223" name="Google Shape;22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2950" y="1167475"/>
            <a:ext cx="222885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7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Divide-and-Conquer approach</a:t>
            </a:r>
            <a:endParaRPr/>
          </a:p>
        </p:txBody>
      </p:sp>
      <p:graphicFrame>
        <p:nvGraphicFramePr>
          <p:cNvPr id="229" name="Google Shape;229;p37"/>
          <p:cNvGraphicFramePr/>
          <p:nvPr/>
        </p:nvGraphicFramePr>
        <p:xfrm>
          <a:off x="2606995" y="1076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551825"/>
                <a:gridCol w="844550"/>
                <a:gridCol w="844550"/>
                <a:gridCol w="844550"/>
                <a:gridCol w="844550"/>
              </a:tblGrid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22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9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98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0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8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Divide-and-Conquer approach for STEP 2</a:t>
            </a:r>
            <a:endParaRPr/>
          </a:p>
        </p:txBody>
      </p:sp>
      <p:graphicFrame>
        <p:nvGraphicFramePr>
          <p:cNvPr id="235" name="Google Shape;235;p38"/>
          <p:cNvGraphicFramePr/>
          <p:nvPr/>
        </p:nvGraphicFramePr>
        <p:xfrm>
          <a:off x="380919" y="10242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551825"/>
                <a:gridCol w="844550"/>
                <a:gridCol w="844550"/>
                <a:gridCol w="844550"/>
                <a:gridCol w="844550"/>
              </a:tblGrid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22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9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98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0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38"/>
          <p:cNvSpPr txBox="1"/>
          <p:nvPr/>
        </p:nvSpPr>
        <p:spPr>
          <a:xfrm>
            <a:off x="2296812" y="4220450"/>
            <a:ext cx="45504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Rotate columns 2 &amp; 3 down by 2, same as rotate up by </a:t>
            </a:r>
            <a:r>
              <a:rPr lang="zh-CN"/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8"/>
          <p:cNvSpPr txBox="1"/>
          <p:nvPr/>
        </p:nvSpPr>
        <p:spPr>
          <a:xfrm>
            <a:off x="1065625" y="624075"/>
            <a:ext cx="353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Example matrix we will demostrate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38" name="Google Shape;238;p38"/>
          <p:cNvGraphicFramePr/>
          <p:nvPr/>
        </p:nvGraphicFramePr>
        <p:xfrm>
          <a:off x="4921719" y="1076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551825"/>
                <a:gridCol w="844550"/>
                <a:gridCol w="844550"/>
                <a:gridCol w="844550"/>
                <a:gridCol w="844550"/>
              </a:tblGrid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22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9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533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B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65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533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565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F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882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J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2711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0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/>
                        <a:t>P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38"/>
          <p:cNvSpPr txBox="1"/>
          <p:nvPr/>
        </p:nvSpPr>
        <p:spPr>
          <a:xfrm>
            <a:off x="4350175" y="624075"/>
            <a:ext cx="500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Actual matrix we have AFTER step 1(rotating row r by r+1)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Divide-and-Conquer approach</a:t>
            </a:r>
            <a:endParaRPr/>
          </a:p>
        </p:txBody>
      </p:sp>
      <p:graphicFrame>
        <p:nvGraphicFramePr>
          <p:cNvPr id="245" name="Google Shape;245;p39"/>
          <p:cNvGraphicFramePr/>
          <p:nvPr/>
        </p:nvGraphicFramePr>
        <p:xfrm>
          <a:off x="2606995" y="1076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551825"/>
                <a:gridCol w="844550"/>
                <a:gridCol w="844550"/>
                <a:gridCol w="844550"/>
                <a:gridCol w="844550"/>
              </a:tblGrid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22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9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98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0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</a:tbl>
          </a:graphicData>
        </a:graphic>
      </p:graphicFrame>
      <p:sp>
        <p:nvSpPr>
          <p:cNvPr id="246" name="Google Shape;246;p39"/>
          <p:cNvSpPr txBox="1"/>
          <p:nvPr/>
        </p:nvSpPr>
        <p:spPr>
          <a:xfrm>
            <a:off x="2296812" y="4220450"/>
            <a:ext cx="45504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Rotate columns 2 &amp; 3 down by 2, same as rotate up by </a:t>
            </a:r>
            <a:r>
              <a:rPr lang="zh-CN"/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0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Divide-and-Conquer approach</a:t>
            </a:r>
            <a:endParaRPr/>
          </a:p>
        </p:txBody>
      </p:sp>
      <p:graphicFrame>
        <p:nvGraphicFramePr>
          <p:cNvPr id="252" name="Google Shape;252;p40"/>
          <p:cNvGraphicFramePr/>
          <p:nvPr/>
        </p:nvGraphicFramePr>
        <p:xfrm>
          <a:off x="2606995" y="1076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551825"/>
                <a:gridCol w="844550"/>
                <a:gridCol w="844550"/>
                <a:gridCol w="844550"/>
                <a:gridCol w="844550"/>
              </a:tblGrid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22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9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98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0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</a:tbl>
          </a:graphicData>
        </a:graphic>
      </p:graphicFrame>
      <p:sp>
        <p:nvSpPr>
          <p:cNvPr id="253" name="Google Shape;253;p40"/>
          <p:cNvSpPr txBox="1"/>
          <p:nvPr/>
        </p:nvSpPr>
        <p:spPr>
          <a:xfrm>
            <a:off x="2251963" y="4232625"/>
            <a:ext cx="4640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Rotate columns 1 &amp; 3 down by 1, same as rotate </a:t>
            </a:r>
            <a:r>
              <a:rPr lang="zh-CN">
                <a:solidFill>
                  <a:schemeClr val="dk1"/>
                </a:solidFill>
              </a:rPr>
              <a:t>up</a:t>
            </a:r>
            <a:r>
              <a:rPr lang="zh-CN">
                <a:solidFill>
                  <a:schemeClr val="dk1"/>
                </a:solidFill>
              </a:rPr>
              <a:t> by 3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Divide-and-Conquer approach</a:t>
            </a:r>
            <a:endParaRPr/>
          </a:p>
        </p:txBody>
      </p:sp>
      <p:graphicFrame>
        <p:nvGraphicFramePr>
          <p:cNvPr id="259" name="Google Shape;259;p41"/>
          <p:cNvGraphicFramePr/>
          <p:nvPr/>
        </p:nvGraphicFramePr>
        <p:xfrm>
          <a:off x="2606995" y="1076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551825"/>
                <a:gridCol w="844550"/>
                <a:gridCol w="844550"/>
                <a:gridCol w="844550"/>
                <a:gridCol w="844550"/>
              </a:tblGrid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22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9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98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0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p41"/>
          <p:cNvSpPr txBox="1"/>
          <p:nvPr/>
        </p:nvSpPr>
        <p:spPr>
          <a:xfrm>
            <a:off x="2251963" y="4232625"/>
            <a:ext cx="4640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Rotate columns 1 &amp; 3 down by 1, same as rotate up by 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Divide-and-Conquer approach</a:t>
            </a:r>
            <a:endParaRPr/>
          </a:p>
        </p:txBody>
      </p:sp>
      <p:graphicFrame>
        <p:nvGraphicFramePr>
          <p:cNvPr id="266" name="Google Shape;266;p42"/>
          <p:cNvGraphicFramePr/>
          <p:nvPr/>
        </p:nvGraphicFramePr>
        <p:xfrm>
          <a:off x="2606995" y="1076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551825"/>
                <a:gridCol w="844550"/>
                <a:gridCol w="844550"/>
                <a:gridCol w="844550"/>
                <a:gridCol w="844550"/>
              </a:tblGrid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22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9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98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0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</a:tbl>
          </a:graphicData>
        </a:graphic>
      </p:graphicFrame>
      <p:sp>
        <p:nvSpPr>
          <p:cNvPr id="267" name="Google Shape;267;p42"/>
          <p:cNvSpPr txBox="1"/>
          <p:nvPr/>
        </p:nvSpPr>
        <p:spPr>
          <a:xfrm>
            <a:off x="2402712" y="4232625"/>
            <a:ext cx="4338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Rotate all columns down by 1, same as rotate up by 3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Divide-and-Conquer approach</a:t>
            </a:r>
            <a:endParaRPr/>
          </a:p>
        </p:txBody>
      </p:sp>
      <p:graphicFrame>
        <p:nvGraphicFramePr>
          <p:cNvPr id="273" name="Google Shape;273;p43"/>
          <p:cNvGraphicFramePr/>
          <p:nvPr/>
        </p:nvGraphicFramePr>
        <p:xfrm>
          <a:off x="2606995" y="1076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551825"/>
                <a:gridCol w="844550"/>
                <a:gridCol w="844550"/>
                <a:gridCol w="844550"/>
                <a:gridCol w="844550"/>
              </a:tblGrid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22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9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0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98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</a:tbl>
          </a:graphicData>
        </a:graphic>
      </p:graphicFrame>
      <p:sp>
        <p:nvSpPr>
          <p:cNvPr id="274" name="Google Shape;274;p43"/>
          <p:cNvSpPr txBox="1"/>
          <p:nvPr/>
        </p:nvSpPr>
        <p:spPr>
          <a:xfrm>
            <a:off x="2402712" y="4232625"/>
            <a:ext cx="43386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Rotate all columns down by 1, same as rotate up by 3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Divide-and-Conquer approach</a:t>
            </a:r>
            <a:endParaRPr/>
          </a:p>
        </p:txBody>
      </p:sp>
      <p:graphicFrame>
        <p:nvGraphicFramePr>
          <p:cNvPr id="280" name="Google Shape;280;p44"/>
          <p:cNvGraphicFramePr/>
          <p:nvPr/>
        </p:nvGraphicFramePr>
        <p:xfrm>
          <a:off x="4655719" y="1076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551825"/>
                <a:gridCol w="844550"/>
                <a:gridCol w="844550"/>
                <a:gridCol w="844550"/>
                <a:gridCol w="844550"/>
              </a:tblGrid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22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9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0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98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1" name="Google Shape;281;p44"/>
          <p:cNvGraphicFramePr/>
          <p:nvPr/>
        </p:nvGraphicFramePr>
        <p:xfrm>
          <a:off x="396244" y="1076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{722E8412-91A6-4B5B-8EE3-D1A49FF151E7}</a:tableStyleId>
              </a:tblPr>
              <a:tblGrid>
                <a:gridCol w="551825"/>
                <a:gridCol w="844550"/>
                <a:gridCol w="844550"/>
                <a:gridCol w="844550"/>
                <a:gridCol w="844550"/>
              </a:tblGrid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227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898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54965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575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8989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727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0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806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4036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7810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2" name="Google Shape;282;p44"/>
          <p:cNvSpPr txBox="1"/>
          <p:nvPr/>
        </p:nvSpPr>
        <p:spPr>
          <a:xfrm>
            <a:off x="1425825" y="4208300"/>
            <a:ext cx="59187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Result: rotate all columns c down by c + 1, same as rotate up by N - (c + 1)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5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Full steps</a:t>
            </a:r>
            <a:endParaRPr/>
          </a:p>
        </p:txBody>
      </p:sp>
      <p:sp>
        <p:nvSpPr>
          <p:cNvPr id="288" name="Google Shape;288;p45"/>
          <p:cNvSpPr txBox="1"/>
          <p:nvPr>
            <p:ph idx="1" type="body"/>
          </p:nvPr>
        </p:nvSpPr>
        <p:spPr>
          <a:xfrm>
            <a:off x="685800" y="981075"/>
            <a:ext cx="7767600" cy="3942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zh-CN" u="sng">
                <a:solidFill>
                  <a:schemeClr val="hlink"/>
                </a:solidFill>
                <a:hlinkClick r:id="rId3"/>
              </a:rPr>
              <a:t>32-bit matrix example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6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Divide-and-conquer approach</a:t>
            </a:r>
            <a:endParaRPr/>
          </a:p>
        </p:txBody>
      </p:sp>
      <p:sp>
        <p:nvSpPr>
          <p:cNvPr id="294" name="Google Shape;294;p46"/>
          <p:cNvSpPr txBox="1"/>
          <p:nvPr>
            <p:ph idx="1" type="body"/>
          </p:nvPr>
        </p:nvSpPr>
        <p:spPr>
          <a:xfrm>
            <a:off x="688200" y="735450"/>
            <a:ext cx="8127600" cy="36726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A[32]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B[32]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// use B as scratch space</a:t>
            </a:r>
            <a:endParaRPr sz="18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// rotate columns 16...31 down 16 positions</a:t>
            </a:r>
            <a:endParaRPr sz="18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stay_mask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= 0xFFFF0000;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// columns that don't move</a:t>
            </a:r>
            <a:endParaRPr sz="18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893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= 0; j &lt; 32; j++)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B[j] = (A[j] &amp; stay_mask) | (A[(j-16+32) % 32] &amp; ~stay_mask);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// rotate columns 8..15 and 24...31 down 8 positions</a:t>
            </a:r>
            <a:endParaRPr sz="18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stay_mask = 0xFF00FF00;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893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= 0; j &lt; 32; j++)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A[j] = (B[j] &amp; stay_mask) | (B[(j-8+32) % 32] &amp; ~stay_mask);</a:t>
            </a:r>
            <a:endParaRPr sz="1800">
              <a:solidFill>
                <a:srgbClr val="9900F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7"/>
          <p:cNvSpPr txBox="1"/>
          <p:nvPr>
            <p:ph type="title"/>
          </p:nvPr>
        </p:nvSpPr>
        <p:spPr>
          <a:xfrm>
            <a:off x="0" y="2590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Divide-and-conquer approach</a:t>
            </a:r>
            <a:endParaRPr/>
          </a:p>
        </p:txBody>
      </p:sp>
      <p:pic>
        <p:nvPicPr>
          <p:cNvPr id="300" name="Google Shape;30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5425" y="3421550"/>
            <a:ext cx="2588650" cy="51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7"/>
          <p:cNvSpPr txBox="1"/>
          <p:nvPr>
            <p:ph idx="1" type="body"/>
          </p:nvPr>
        </p:nvSpPr>
        <p:spPr>
          <a:xfrm>
            <a:off x="698550" y="597400"/>
            <a:ext cx="8127600" cy="38883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A[32]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B[32]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4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// A and B are 2 row buffers for a Ping Pong system</a:t>
            </a:r>
            <a:endParaRPr sz="18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// rotate columns 16...31 down 16 positions</a:t>
            </a:r>
            <a:endParaRPr sz="18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uint32_t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stay_mask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= 0xFFFF0000;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// columns that don't move</a:t>
            </a:r>
            <a:endParaRPr sz="18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893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= 0; j &lt; 32; j++)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B[j] = (A[j] &amp; stay_mask) | (A[(j-16+32) % 32] &amp; ~stay_mask);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zh-CN" sz="14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zh-CN" sz="14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 acts as the joining of 2 halves</a:t>
            </a:r>
            <a:endParaRPr sz="14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zh-CN" sz="14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A[(j-16+32) % 32 is the second half we need filled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4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CC4125"/>
                </a:solidFill>
                <a:latin typeface="Consolas"/>
                <a:ea typeface="Consolas"/>
                <a:cs typeface="Consolas"/>
                <a:sym typeface="Consolas"/>
              </a:rPr>
              <a:t>// rotate columns 8..15 and 24...31 down 8 positions</a:t>
            </a:r>
            <a:endParaRPr sz="1800">
              <a:solidFill>
                <a:srgbClr val="CC412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stay_mask = 0xFF00FF00;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893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9900F8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zh-CN" sz="1800">
                <a:solidFill>
                  <a:srgbClr val="B88600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= 0; j &lt; 32; j++)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rgbClr val="6893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zh-CN" sz="1800">
                <a:latin typeface="Consolas"/>
                <a:ea typeface="Consolas"/>
                <a:cs typeface="Consolas"/>
                <a:sym typeface="Consolas"/>
              </a:rPr>
              <a:t>A[j] = (B[j] &amp; stay_mask) | (B[(j-8+32) % 32] &amp; ~stay_mask);</a:t>
            </a:r>
            <a:endParaRPr sz="1800">
              <a:solidFill>
                <a:srgbClr val="9900F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8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Coding time!</a:t>
            </a:r>
            <a:endParaRPr/>
          </a:p>
        </p:txBody>
      </p:sp>
      <p:sp>
        <p:nvSpPr>
          <p:cNvPr id="307" name="Google Shape;307;p48"/>
          <p:cNvSpPr txBox="1"/>
          <p:nvPr>
            <p:ph idx="12" type="sldNum"/>
          </p:nvPr>
        </p:nvSpPr>
        <p:spPr>
          <a:xfrm>
            <a:off x="7010400" y="4914901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6 recitations for project 1</a:t>
            </a:r>
            <a:endParaRPr/>
          </a:p>
        </p:txBody>
      </p:sp>
      <p:sp>
        <p:nvSpPr>
          <p:cNvPr id="313" name="Google Shape;313;p49"/>
          <p:cNvSpPr txBox="1"/>
          <p:nvPr>
            <p:ph idx="12" type="sldNum"/>
          </p:nvPr>
        </p:nvSpPr>
        <p:spPr>
          <a:xfrm>
            <a:off x="7010400" y="49149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314" name="Google Shape;314;p49"/>
          <p:cNvSpPr txBox="1"/>
          <p:nvPr>
            <p:ph idx="1" type="body"/>
          </p:nvPr>
        </p:nvSpPr>
        <p:spPr>
          <a:xfrm>
            <a:off x="685800" y="981075"/>
            <a:ext cx="7767600" cy="26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4-way rotation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introduction to rcr, image walkthrough, naive col rotation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bit hacks review, divide-and-conquer using bit masks (find the excel table)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vectorization, built-in intrinsics (after beta submission)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the queen’s problem using bit hacks (homework 4)</a:t>
            </a:r>
            <a:endParaRPr/>
          </a:p>
          <a:p>
            <a:pPr indent="-3619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AutoNum type="arabicPeriod"/>
            </a:pPr>
            <a:r>
              <a:rPr lang="zh-CN"/>
              <a:t>tiling, prefetching, performance gap table: technique, tier, engineering time estimation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6172_lectures">
  <a:themeElements>
    <a:clrScheme name="Custom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999999"/>
      </a:accent1>
      <a:accent2>
        <a:srgbClr val="006699"/>
      </a:accent2>
      <a:accent3>
        <a:srgbClr val="669900"/>
      </a:accent3>
      <a:accent4>
        <a:srgbClr val="FF993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